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Noto Sans Bold" charset="1" panose="020B0802040504020204"/>
      <p:regular r:id="rId35"/>
    </p:embeddedFont>
    <p:embeddedFont>
      <p:font typeface="Noto Sans" charset="1" panose="020B0502040504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2023 조사(3,077곳) -가격정보 획득 경로</a:t>
            </a:r>
          </a:p>
          <a:p>
            <a:r>
              <a:rPr lang="en-US"/>
              <a:t>주 구입처 비중 · 2025 조사(3,138곳)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2023 조사(3,077곳) -가격정보 획득 경로</a:t>
            </a:r>
          </a:p>
          <a:p>
            <a:r>
              <a:rPr lang="en-US"/>
              <a:t>주 구입처 비중 · 2025 조사(3,138곳)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2023 조사(3,077곳) -가격정보 획득 경로</a:t>
            </a:r>
          </a:p>
          <a:p>
            <a:r>
              <a:rPr lang="en-US"/>
              <a:t>주 구입처 비중 · 2025 조사(3,138곳)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2023 조사(3,077곳) -가격정보 획득 경로</a:t>
            </a:r>
          </a:p>
          <a:p>
            <a:r>
              <a:rPr lang="en-US"/>
              <a:t>주 구입처 비중 · 2025 조사(3,138곳)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‘식재료비 상승’을 경영상 어려움으로 꼽음 (2023, 3,077곳)</a:t>
            </a:r>
          </a:p>
          <a:p>
            <a:r>
              <a:rPr lang="en-US"/>
              <a:t>구매비의 3~5% · 과잉 발주로 버려지는 식재료 (업계 추정)</a:t>
            </a:r>
          </a:p>
          <a:p>
            <a:r>
              <a:rPr lang="en-US"/>
              <a:t>하루 90분 · 발주·재고 정리에 드는 시간 (업체 자체 조사)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대구는 새 브랜드가 시작·검증되는 시장 → 대구에서 다듬은 발주 모델은 다른 지역으로 확장 가능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28600" cy="10287000"/>
            <a:chOff x="0" y="0"/>
            <a:chExt cx="304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9200" y="2726493"/>
            <a:ext cx="12129183" cy="308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9"/>
              </a:lnSpc>
            </a:pPr>
            <a:r>
              <a:rPr lang="en-US" b="true" sz="9000">
                <a:solidFill>
                  <a:srgbClr val="C9D8D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식자재 가격 분석 AI 알림 </a:t>
            </a:r>
          </a:p>
          <a:p>
            <a:pPr algn="l">
              <a:lnSpc>
                <a:spcPts val="12419"/>
              </a:lnSpc>
            </a:pPr>
            <a:r>
              <a:rPr lang="en-US" b="true" sz="9000">
                <a:solidFill>
                  <a:srgbClr val="C9D8D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스마트 발주 지원 플랫폼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69520">
            <a:off x="12074964" y="2414170"/>
            <a:ext cx="5769839" cy="853924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93924" y="2196951"/>
            <a:ext cx="5211640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CJ프레시웨이 × 대구 외식업 B2B 시나리오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9262167"/>
            <a:ext cx="3485255" cy="4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CBBFB4"/>
                </a:solidFill>
                <a:latin typeface="Noto Sans"/>
                <a:ea typeface="Noto Sans"/>
                <a:cs typeface="Noto Sans"/>
                <a:sym typeface="Noto Sans"/>
              </a:rPr>
              <a:t>윤가언, 이성이, 이소정, 이하영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문제 정의 - 외식업체는 지금 어떻게 사는가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96333"/>
            <a:ext cx="4555212" cy="72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4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어디에서 구매하는가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09775" y="2908981"/>
            <a:ext cx="13668451" cy="4629197"/>
            <a:chOff x="0" y="0"/>
            <a:chExt cx="18224601" cy="617226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4734669" y="-112663"/>
              <a:ext cx="3489932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23.7%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4734669" y="1254918"/>
              <a:ext cx="3489932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21.5%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734669" y="2476818"/>
              <a:ext cx="3489932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19.3%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5408465" y="3736133"/>
              <a:ext cx="2816137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9.6%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408465" y="4864747"/>
              <a:ext cx="2816137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8.2%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6039245"/>
              <a:ext cx="3951061" cy="133018"/>
              <a:chOff x="0" y="0"/>
              <a:chExt cx="3772314" cy="127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772314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3772314">
                    <a:moveTo>
                      <a:pt x="0" y="63500"/>
                    </a:moveTo>
                    <a:cubicBezTo>
                      <a:pt x="0" y="28448"/>
                      <a:pt x="86224" y="0"/>
                      <a:pt x="192465" y="0"/>
                    </a:cubicBezTo>
                    <a:lnTo>
                      <a:pt x="3579849" y="0"/>
                    </a:lnTo>
                    <a:cubicBezTo>
                      <a:pt x="3686089" y="0"/>
                      <a:pt x="3772314" y="28448"/>
                      <a:pt x="3772314" y="63500"/>
                    </a:cubicBezTo>
                    <a:cubicBezTo>
                      <a:pt x="3772314" y="98552"/>
                      <a:pt x="3686089" y="127000"/>
                      <a:pt x="3579849" y="127000"/>
                    </a:cubicBezTo>
                    <a:lnTo>
                      <a:pt x="192465" y="127000"/>
                    </a:lnTo>
                    <a:cubicBezTo>
                      <a:pt x="86224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-190500"/>
              <a:ext cx="5504503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개인 도매상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859966"/>
              <a:ext cx="11251710" cy="130714"/>
              <a:chOff x="0" y="0"/>
              <a:chExt cx="10932011" cy="12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932011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0932011">
                    <a:moveTo>
                      <a:pt x="0" y="63500"/>
                    </a:moveTo>
                    <a:cubicBezTo>
                      <a:pt x="0" y="28448"/>
                      <a:pt x="86224" y="0"/>
                      <a:pt x="192465" y="0"/>
                    </a:cubicBezTo>
                    <a:lnTo>
                      <a:pt x="10739546" y="0"/>
                    </a:lnTo>
                    <a:cubicBezTo>
                      <a:pt x="10845787" y="0"/>
                      <a:pt x="10932011" y="28448"/>
                      <a:pt x="10932011" y="63500"/>
                    </a:cubicBezTo>
                    <a:cubicBezTo>
                      <a:pt x="10932011" y="98552"/>
                      <a:pt x="10845787" y="127000"/>
                      <a:pt x="10739546" y="127000"/>
                    </a:cubicBezTo>
                    <a:lnTo>
                      <a:pt x="192465" y="127000"/>
                    </a:lnTo>
                    <a:cubicBezTo>
                      <a:pt x="86224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136697"/>
              <a:ext cx="5249002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식자재마트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2149710"/>
              <a:ext cx="10221624" cy="130714"/>
              <a:chOff x="0" y="0"/>
              <a:chExt cx="9931193" cy="127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931193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9931193">
                    <a:moveTo>
                      <a:pt x="0" y="63500"/>
                    </a:moveTo>
                    <a:cubicBezTo>
                      <a:pt x="0" y="28448"/>
                      <a:pt x="86224" y="0"/>
                      <a:pt x="192465" y="0"/>
                    </a:cubicBezTo>
                    <a:lnTo>
                      <a:pt x="9738728" y="0"/>
                    </a:lnTo>
                    <a:cubicBezTo>
                      <a:pt x="9844968" y="0"/>
                      <a:pt x="9931193" y="28448"/>
                      <a:pt x="9931193" y="63500"/>
                    </a:cubicBezTo>
                    <a:cubicBezTo>
                      <a:pt x="9931193" y="98552"/>
                      <a:pt x="9844968" y="127000"/>
                      <a:pt x="9738728" y="127000"/>
                    </a:cubicBezTo>
                    <a:lnTo>
                      <a:pt x="192465" y="127000"/>
                    </a:lnTo>
                    <a:cubicBezTo>
                      <a:pt x="86224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2358584"/>
              <a:ext cx="7603819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프랜차이즈 본사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3371610"/>
              <a:ext cx="9191538" cy="130714"/>
              <a:chOff x="0" y="0"/>
              <a:chExt cx="8930375" cy="127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930375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8930375">
                    <a:moveTo>
                      <a:pt x="0" y="63500"/>
                    </a:moveTo>
                    <a:cubicBezTo>
                      <a:pt x="0" y="28448"/>
                      <a:pt x="86224" y="0"/>
                      <a:pt x="192465" y="0"/>
                    </a:cubicBezTo>
                    <a:lnTo>
                      <a:pt x="8737910" y="0"/>
                    </a:lnTo>
                    <a:cubicBezTo>
                      <a:pt x="8844150" y="0"/>
                      <a:pt x="8930375" y="28448"/>
                      <a:pt x="8930375" y="63500"/>
                    </a:cubicBezTo>
                    <a:cubicBezTo>
                      <a:pt x="8930375" y="98552"/>
                      <a:pt x="8844150" y="127000"/>
                      <a:pt x="8737910" y="127000"/>
                    </a:cubicBezTo>
                    <a:lnTo>
                      <a:pt x="192465" y="127000"/>
                    </a:lnTo>
                    <a:cubicBezTo>
                      <a:pt x="86224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3586385"/>
              <a:ext cx="8657161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농수산물 도매시장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4630925"/>
              <a:ext cx="4556150" cy="130714"/>
              <a:chOff x="0" y="0"/>
              <a:chExt cx="4426694" cy="127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426695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4426695">
                    <a:moveTo>
                      <a:pt x="0" y="63500"/>
                    </a:moveTo>
                    <a:cubicBezTo>
                      <a:pt x="0" y="28448"/>
                      <a:pt x="86224" y="0"/>
                      <a:pt x="192465" y="0"/>
                    </a:cubicBezTo>
                    <a:lnTo>
                      <a:pt x="4234230" y="0"/>
                    </a:lnTo>
                    <a:cubicBezTo>
                      <a:pt x="4340470" y="0"/>
                      <a:pt x="4426695" y="28448"/>
                      <a:pt x="4426695" y="63500"/>
                    </a:cubicBezTo>
                    <a:cubicBezTo>
                      <a:pt x="4426695" y="98552"/>
                      <a:pt x="4340470" y="127000"/>
                      <a:pt x="4234230" y="127000"/>
                    </a:cubicBezTo>
                    <a:lnTo>
                      <a:pt x="192465" y="127000"/>
                    </a:lnTo>
                    <a:cubicBezTo>
                      <a:pt x="86224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E8672A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4914667"/>
              <a:ext cx="7603819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식재료 유통법인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474174" y="7991713"/>
            <a:ext cx="1133965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b="true" sz="45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도매시장에서 직접 사는 곳은 10곳 중 1곳 미만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86485" y="7209815"/>
            <a:ext cx="4513050" cy="77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91.4%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586428" y="8153638"/>
            <a:ext cx="4513050" cy="45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‘식재료비 상승’을 경영상 어려움으로 꼽은 비율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0981" y="9684626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한국농촌경제연구원 외식업체 경영실태조사(2023·2025), 외식업체 식재료 구매현황 심층분석(2018), 더바이어(2024.5) ·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문제 정의 - 외식업체는 지금 어떻게 사는가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96333"/>
            <a:ext cx="4693682" cy="72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4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자영업자의 구매 기준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586485" y="7209815"/>
            <a:ext cx="4513050" cy="77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91.4%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86428" y="8153638"/>
            <a:ext cx="4513050" cy="45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‘식재료비 상승’을 경영상 어려움으로 꼽은 비율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30232" y="3232561"/>
            <a:ext cx="13427536" cy="4288432"/>
            <a:chOff x="0" y="0"/>
            <a:chExt cx="17903381" cy="571790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0"/>
              <a:ext cx="7469797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식재료 공급업체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474962" y="-190500"/>
              <a:ext cx="3428420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31.7%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809186"/>
              <a:ext cx="14789750" cy="127632"/>
              <a:chOff x="0" y="0"/>
              <a:chExt cx="14716528" cy="12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716528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4716528">
                    <a:moveTo>
                      <a:pt x="0" y="63500"/>
                    </a:moveTo>
                    <a:cubicBezTo>
                      <a:pt x="0" y="28448"/>
                      <a:pt x="86750" y="0"/>
                      <a:pt x="193639" y="0"/>
                    </a:cubicBezTo>
                    <a:lnTo>
                      <a:pt x="14522890" y="0"/>
                    </a:lnTo>
                    <a:cubicBezTo>
                      <a:pt x="14629778" y="0"/>
                      <a:pt x="14716528" y="28448"/>
                      <a:pt x="14716528" y="63500"/>
                    </a:cubicBezTo>
                    <a:cubicBezTo>
                      <a:pt x="14716528" y="98552"/>
                      <a:pt x="14629778" y="127000"/>
                      <a:pt x="14522890" y="127000"/>
                    </a:cubicBezTo>
                    <a:lnTo>
                      <a:pt x="193639" y="127000"/>
                    </a:lnTo>
                    <a:cubicBezTo>
                      <a:pt x="86750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1001582"/>
              <a:ext cx="6945850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지인(동종업체)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474962" y="1001582"/>
              <a:ext cx="3428420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21.3%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2039558"/>
              <a:ext cx="9963621" cy="127632"/>
              <a:chOff x="0" y="0"/>
              <a:chExt cx="9914293" cy="12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14293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9914293">
                    <a:moveTo>
                      <a:pt x="0" y="63500"/>
                    </a:moveTo>
                    <a:cubicBezTo>
                      <a:pt x="0" y="28448"/>
                      <a:pt x="86750" y="0"/>
                      <a:pt x="193639" y="0"/>
                    </a:cubicBezTo>
                    <a:lnTo>
                      <a:pt x="9720654" y="0"/>
                    </a:lnTo>
                    <a:cubicBezTo>
                      <a:pt x="9827543" y="0"/>
                      <a:pt x="9914293" y="28448"/>
                      <a:pt x="9914293" y="63500"/>
                    </a:cubicBezTo>
                    <a:cubicBezTo>
                      <a:pt x="9914293" y="98552"/>
                      <a:pt x="9827543" y="127000"/>
                      <a:pt x="9720654" y="127000"/>
                    </a:cubicBezTo>
                    <a:lnTo>
                      <a:pt x="193639" y="127000"/>
                    </a:lnTo>
                    <a:cubicBezTo>
                      <a:pt x="86750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142611"/>
              <a:ext cx="6689676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직접 현장 조사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474962" y="2142611"/>
              <a:ext cx="3428420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20.8%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3155061"/>
              <a:ext cx="9730099" cy="127632"/>
              <a:chOff x="0" y="0"/>
              <a:chExt cx="9681926" cy="12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681926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9681926">
                    <a:moveTo>
                      <a:pt x="0" y="63500"/>
                    </a:moveTo>
                    <a:cubicBezTo>
                      <a:pt x="0" y="28448"/>
                      <a:pt x="86750" y="0"/>
                      <a:pt x="193639" y="0"/>
                    </a:cubicBezTo>
                    <a:lnTo>
                      <a:pt x="9488288" y="0"/>
                    </a:lnTo>
                    <a:cubicBezTo>
                      <a:pt x="9595176" y="0"/>
                      <a:pt x="9681926" y="28448"/>
                      <a:pt x="9681926" y="63500"/>
                    </a:cubicBezTo>
                    <a:cubicBezTo>
                      <a:pt x="9681926" y="98552"/>
                      <a:pt x="9595176" y="127000"/>
                      <a:pt x="9488288" y="127000"/>
                    </a:cubicBezTo>
                    <a:lnTo>
                      <a:pt x="193639" y="127000"/>
                    </a:lnTo>
                    <a:cubicBezTo>
                      <a:pt x="86750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3309167"/>
              <a:ext cx="5407483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sz="42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인터넷 검색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4474962" y="3309167"/>
              <a:ext cx="3428420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17.1%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0" y="4398196"/>
              <a:ext cx="7978681" cy="127632"/>
              <a:chOff x="0" y="0"/>
              <a:chExt cx="7939180" cy="127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93918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7939180">
                    <a:moveTo>
                      <a:pt x="0" y="63500"/>
                    </a:moveTo>
                    <a:cubicBezTo>
                      <a:pt x="0" y="28448"/>
                      <a:pt x="86750" y="0"/>
                      <a:pt x="193639" y="0"/>
                    </a:cubicBezTo>
                    <a:lnTo>
                      <a:pt x="7745541" y="0"/>
                    </a:lnTo>
                    <a:cubicBezTo>
                      <a:pt x="7852429" y="0"/>
                      <a:pt x="7939180" y="28448"/>
                      <a:pt x="7939180" y="63500"/>
                    </a:cubicBezTo>
                    <a:cubicBezTo>
                      <a:pt x="7939180" y="98552"/>
                      <a:pt x="7852429" y="127000"/>
                      <a:pt x="7745541" y="127000"/>
                    </a:cubicBezTo>
                    <a:lnTo>
                      <a:pt x="193639" y="127000"/>
                    </a:lnTo>
                    <a:cubicBezTo>
                      <a:pt x="86750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B9C4BF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4514012"/>
              <a:ext cx="9043893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56"/>
                </a:lnSpc>
              </a:pPr>
              <a:r>
                <a:rPr lang="en-US" b="true" sz="42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정부 공시 + KAMIS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5136881" y="4424670"/>
              <a:ext cx="2766501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56"/>
                </a:lnSpc>
              </a:pPr>
              <a:r>
                <a:rPr lang="en-US" b="true" sz="4200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4.8%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5590278"/>
              <a:ext cx="2257383" cy="127632"/>
              <a:chOff x="0" y="0"/>
              <a:chExt cx="2246207" cy="12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46207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2246207">
                    <a:moveTo>
                      <a:pt x="0" y="63500"/>
                    </a:moveTo>
                    <a:cubicBezTo>
                      <a:pt x="0" y="28448"/>
                      <a:pt x="86750" y="0"/>
                      <a:pt x="193639" y="0"/>
                    </a:cubicBezTo>
                    <a:lnTo>
                      <a:pt x="2052568" y="0"/>
                    </a:lnTo>
                    <a:cubicBezTo>
                      <a:pt x="2159457" y="0"/>
                      <a:pt x="2246207" y="28448"/>
                      <a:pt x="2246207" y="63500"/>
                    </a:cubicBezTo>
                    <a:cubicBezTo>
                      <a:pt x="2246207" y="98552"/>
                      <a:pt x="2159457" y="127000"/>
                      <a:pt x="2052568" y="127000"/>
                    </a:cubicBezTo>
                    <a:lnTo>
                      <a:pt x="193639" y="127000"/>
                    </a:lnTo>
                    <a:cubicBezTo>
                      <a:pt x="86750" y="127000"/>
                      <a:pt x="0" y="98552"/>
                      <a:pt x="0" y="63500"/>
                    </a:cubicBezTo>
                    <a:close/>
                  </a:path>
                </a:pathLst>
              </a:custGeom>
              <a:solidFill>
                <a:srgbClr val="E8672A"/>
              </a:solidFill>
            </p:spPr>
          </p:sp>
        </p:grpSp>
      </p:grpSp>
      <p:sp>
        <p:nvSpPr>
          <p:cNvPr name="TextBox 27" id="27"/>
          <p:cNvSpPr txBox="true"/>
          <p:nvPr/>
        </p:nvSpPr>
        <p:spPr>
          <a:xfrm rot="0">
            <a:off x="4437723" y="7827912"/>
            <a:ext cx="941255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b="true" sz="45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공공 시세를 보는 곳은 20곳 중 1곳 수준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0981" y="9684626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한국농촌경제연구원 외식업체 경영실태조사(2023·2025), 외식업체 식재료 구매현황 심층분석(2018), 더바이어(2024.5) · 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8511" y="3552032"/>
            <a:ext cx="6562754" cy="3182936"/>
          </a:xfrm>
          <a:custGeom>
            <a:avLst/>
            <a:gdLst/>
            <a:ahLst/>
            <a:cxnLst/>
            <a:rect r="r" b="b" t="t" l="l"/>
            <a:pathLst>
              <a:path h="3182936" w="6562754">
                <a:moveTo>
                  <a:pt x="0" y="0"/>
                </a:moveTo>
                <a:lnTo>
                  <a:pt x="6562754" y="0"/>
                </a:lnTo>
                <a:lnTo>
                  <a:pt x="6562754" y="3182936"/>
                </a:lnTo>
                <a:lnTo>
                  <a:pt x="0" y="3182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4182" y="2904481"/>
            <a:ext cx="6572429" cy="4863516"/>
            <a:chOff x="0" y="0"/>
            <a:chExt cx="8763239" cy="6484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363848" y="0"/>
              <a:ext cx="6290148" cy="6484688"/>
            </a:xfrm>
            <a:custGeom>
              <a:avLst/>
              <a:gdLst/>
              <a:ahLst/>
              <a:cxnLst/>
              <a:rect r="r" b="b" t="t" l="l"/>
              <a:pathLst>
                <a:path h="6484688" w="6290148">
                  <a:moveTo>
                    <a:pt x="0" y="0"/>
                  </a:moveTo>
                  <a:lnTo>
                    <a:pt x="6290147" y="0"/>
                  </a:lnTo>
                  <a:lnTo>
                    <a:pt x="6290147" y="6484688"/>
                  </a:lnTo>
                  <a:lnTo>
                    <a:pt x="0" y="6484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130961"/>
              <a:ext cx="1908404" cy="2074352"/>
            </a:xfrm>
            <a:custGeom>
              <a:avLst/>
              <a:gdLst/>
              <a:ahLst/>
              <a:cxnLst/>
              <a:rect r="r" b="b" t="t" l="l"/>
              <a:pathLst>
                <a:path h="2074352" w="1908404">
                  <a:moveTo>
                    <a:pt x="0" y="0"/>
                  </a:moveTo>
                  <a:lnTo>
                    <a:pt x="1908404" y="0"/>
                  </a:lnTo>
                  <a:lnTo>
                    <a:pt x="1908404" y="2074353"/>
                  </a:lnTo>
                  <a:lnTo>
                    <a:pt x="0" y="207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762335" y="1517209"/>
              <a:ext cx="2000904" cy="2140004"/>
            </a:xfrm>
            <a:custGeom>
              <a:avLst/>
              <a:gdLst/>
              <a:ahLst/>
              <a:cxnLst/>
              <a:rect r="r" b="b" t="t" l="l"/>
              <a:pathLst>
                <a:path h="2140004" w="2000904">
                  <a:moveTo>
                    <a:pt x="0" y="0"/>
                  </a:moveTo>
                  <a:lnTo>
                    <a:pt x="2000904" y="0"/>
                  </a:lnTo>
                  <a:lnTo>
                    <a:pt x="2000904" y="2140004"/>
                  </a:lnTo>
                  <a:lnTo>
                    <a:pt x="0" y="2140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문제 정의 - 외식업체는 지금 어떻게 사는가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1667223"/>
            <a:ext cx="5449358" cy="72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4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언제 얼만큼 구매하는가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2456" y="7832462"/>
            <a:ext cx="3879593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b="true" sz="3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육류, 야채류 </a:t>
            </a:r>
            <a:r>
              <a:rPr lang="en-US" b="true" sz="3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 1~2회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2159" y="7849410"/>
            <a:ext cx="4724400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예상 손님 수만큼 소량·자주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86485" y="7209815"/>
            <a:ext cx="4513050" cy="77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91.4%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586428" y="8153638"/>
            <a:ext cx="4513050" cy="45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‘식재료비 상승’을 경영상 어려움으로 꼽은 비율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981" y="9684626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한국농촌경제연구원 외식업체 경영실태조사(2023·2025), 외식업체 식재료 구매현황 심층분석(2018), 더바이어(2024.5) · 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8511" y="3552032"/>
            <a:ext cx="6562754" cy="3182936"/>
          </a:xfrm>
          <a:custGeom>
            <a:avLst/>
            <a:gdLst/>
            <a:ahLst/>
            <a:cxnLst/>
            <a:rect r="r" b="b" t="t" l="l"/>
            <a:pathLst>
              <a:path h="3182936" w="6562754">
                <a:moveTo>
                  <a:pt x="0" y="0"/>
                </a:moveTo>
                <a:lnTo>
                  <a:pt x="6562754" y="0"/>
                </a:lnTo>
                <a:lnTo>
                  <a:pt x="6562754" y="3182936"/>
                </a:lnTo>
                <a:lnTo>
                  <a:pt x="0" y="3182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4182" y="2904481"/>
            <a:ext cx="6572429" cy="4863516"/>
            <a:chOff x="0" y="0"/>
            <a:chExt cx="8763239" cy="6484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363848" y="0"/>
              <a:ext cx="6290148" cy="6484688"/>
            </a:xfrm>
            <a:custGeom>
              <a:avLst/>
              <a:gdLst/>
              <a:ahLst/>
              <a:cxnLst/>
              <a:rect r="r" b="b" t="t" l="l"/>
              <a:pathLst>
                <a:path h="6484688" w="6290148">
                  <a:moveTo>
                    <a:pt x="0" y="0"/>
                  </a:moveTo>
                  <a:lnTo>
                    <a:pt x="6290147" y="0"/>
                  </a:lnTo>
                  <a:lnTo>
                    <a:pt x="6290147" y="6484688"/>
                  </a:lnTo>
                  <a:lnTo>
                    <a:pt x="0" y="6484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130961"/>
              <a:ext cx="1908404" cy="2074352"/>
            </a:xfrm>
            <a:custGeom>
              <a:avLst/>
              <a:gdLst/>
              <a:ahLst/>
              <a:cxnLst/>
              <a:rect r="r" b="b" t="t" l="l"/>
              <a:pathLst>
                <a:path h="2074352" w="1908404">
                  <a:moveTo>
                    <a:pt x="0" y="0"/>
                  </a:moveTo>
                  <a:lnTo>
                    <a:pt x="1908404" y="0"/>
                  </a:lnTo>
                  <a:lnTo>
                    <a:pt x="1908404" y="2074353"/>
                  </a:lnTo>
                  <a:lnTo>
                    <a:pt x="0" y="207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762335" y="1517209"/>
              <a:ext cx="2000904" cy="2140004"/>
            </a:xfrm>
            <a:custGeom>
              <a:avLst/>
              <a:gdLst/>
              <a:ahLst/>
              <a:cxnLst/>
              <a:rect r="r" b="b" t="t" l="l"/>
              <a:pathLst>
                <a:path h="2140004" w="2000904">
                  <a:moveTo>
                    <a:pt x="0" y="0"/>
                  </a:moveTo>
                  <a:lnTo>
                    <a:pt x="2000904" y="0"/>
                  </a:lnTo>
                  <a:lnTo>
                    <a:pt x="2000904" y="2140004"/>
                  </a:lnTo>
                  <a:lnTo>
                    <a:pt x="0" y="2140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문제 정의 - 외식업체는 지금 어떻게 사는가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1667223"/>
            <a:ext cx="5449358" cy="72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4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언제 얼만큼 구매하는가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-3847510"/>
            <a:ext cx="18586428" cy="18586428"/>
          </a:xfrm>
          <a:custGeom>
            <a:avLst/>
            <a:gdLst/>
            <a:ahLst/>
            <a:cxnLst/>
            <a:rect r="r" b="b" t="t" l="l"/>
            <a:pathLst>
              <a:path h="18586428" w="18586428">
                <a:moveTo>
                  <a:pt x="0" y="0"/>
                </a:moveTo>
                <a:lnTo>
                  <a:pt x="18586428" y="0"/>
                </a:lnTo>
                <a:lnTo>
                  <a:pt x="18586428" y="18586428"/>
                </a:lnTo>
                <a:lnTo>
                  <a:pt x="0" y="185864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1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72456" y="7832462"/>
            <a:ext cx="3879593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b="true" sz="3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육류, 야채류 </a:t>
            </a:r>
            <a:r>
              <a:rPr lang="en-US" b="true" sz="3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 1~2회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2159" y="7849410"/>
            <a:ext cx="4724400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예상 손님 수만큼 소량·자주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586485" y="7209815"/>
            <a:ext cx="4513050" cy="77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91.4%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586428" y="8153638"/>
            <a:ext cx="4513050" cy="45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‘식재료비 상승’을 경영상 어려움으로 꼽은 비율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981" y="9684626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한국농촌경제연구원 외식업체 경영실태조사(2023·2025), 외식업체 식재료 구매현황 심층분석(2018), 더바이어(2024.5) · 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5350" y="3706749"/>
            <a:ext cx="6557299" cy="258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3"/>
              </a:lnSpc>
            </a:pPr>
            <a:r>
              <a:rPr lang="en-US" sz="62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가격은 </a:t>
            </a:r>
            <a:r>
              <a:rPr lang="en-US" sz="6299" b="true">
                <a:solidFill>
                  <a:srgbClr val="E86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거래처</a:t>
            </a:r>
            <a:r>
              <a:rPr lang="en-US" sz="62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에</a:t>
            </a:r>
          </a:p>
          <a:p>
            <a:pPr algn="ctr">
              <a:lnSpc>
                <a:spcPts val="10583"/>
              </a:lnSpc>
            </a:pPr>
            <a:r>
              <a:rPr lang="en-US" b="true" sz="62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수량은 </a:t>
            </a:r>
            <a:r>
              <a:rPr lang="en-US" b="true" sz="6299">
                <a:solidFill>
                  <a:srgbClr val="E86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경험</a:t>
            </a:r>
            <a:r>
              <a:rPr lang="en-US" b="true" sz="62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에 의존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b="true" sz="1794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01-1 · 무엇이 불편하고, 얼마나 드는가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03324"/>
            <a:ext cx="16325088" cy="13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7"/>
              </a:lnSpc>
            </a:pPr>
            <a:r>
              <a:rPr lang="en-US" b="true" sz="388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매출의 40%가 식재료비, 남는 건 8.7%</a:t>
            </a:r>
          </a:p>
          <a:p>
            <a:pPr algn="l">
              <a:lnSpc>
                <a:spcPts val="5597"/>
              </a:lnSpc>
            </a:pPr>
            <a:r>
              <a:rPr lang="en-US" b="true" sz="388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발주 실수 하나가 곧 이익을 깎는다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173016"/>
            <a:ext cx="5105400" cy="4535386"/>
            <a:chOff x="0" y="0"/>
            <a:chExt cx="6807200" cy="60471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200" cy="6047232"/>
            </a:xfrm>
            <a:custGeom>
              <a:avLst/>
              <a:gdLst/>
              <a:ahLst/>
              <a:cxnLst/>
              <a:rect r="r" b="b" t="t" l="l"/>
              <a:pathLst>
                <a:path h="6047232" w="6807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53200" y="0"/>
                  </a:lnTo>
                  <a:cubicBezTo>
                    <a:pt x="6693408" y="0"/>
                    <a:pt x="6807200" y="113665"/>
                    <a:pt x="6807200" y="254000"/>
                  </a:cubicBezTo>
                  <a:lnTo>
                    <a:pt x="6807200" y="5793232"/>
                  </a:lnTo>
                  <a:cubicBezTo>
                    <a:pt x="6807200" y="5933440"/>
                    <a:pt x="6693535" y="6047232"/>
                    <a:pt x="6553200" y="6047232"/>
                  </a:cubicBezTo>
                  <a:lnTo>
                    <a:pt x="254000" y="6047232"/>
                  </a:lnTo>
                  <a:cubicBezTo>
                    <a:pt x="113792" y="6047232"/>
                    <a:pt x="0" y="5933567"/>
                    <a:pt x="0" y="5793232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62100" y="3420666"/>
            <a:ext cx="4552188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비용 구조 · 일반음식점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100" y="3929215"/>
            <a:ext cx="4552188" cy="8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54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40.7%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2100" y="4788246"/>
            <a:ext cx="4762500" cy="36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매출 대비 식재료비 (2024) · 가장 큰 단일 비용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2100" y="5283546"/>
            <a:ext cx="1918992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식재료비+인건비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08563" y="5226396"/>
            <a:ext cx="2673137" cy="54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5"/>
              </a:lnSpc>
            </a:pPr>
            <a:r>
              <a:rPr lang="en-US" b="true" sz="2699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58.8% → 71.6%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2100" y="6114012"/>
            <a:ext cx="126194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영업이익률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49234" y="6056862"/>
            <a:ext cx="2432466" cy="54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5"/>
              </a:lnSpc>
            </a:pPr>
            <a:r>
              <a:rPr lang="en-US" b="true" sz="2699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25.4% → 8.7%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91300" y="3173016"/>
            <a:ext cx="5105400" cy="4535386"/>
            <a:chOff x="0" y="0"/>
            <a:chExt cx="6807200" cy="60471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07200" cy="6047232"/>
            </a:xfrm>
            <a:custGeom>
              <a:avLst/>
              <a:gdLst/>
              <a:ahLst/>
              <a:cxnLst/>
              <a:rect r="r" b="b" t="t" l="l"/>
              <a:pathLst>
                <a:path h="6047232" w="6807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53200" y="0"/>
                  </a:lnTo>
                  <a:cubicBezTo>
                    <a:pt x="6693408" y="0"/>
                    <a:pt x="6807200" y="113665"/>
                    <a:pt x="6807200" y="254000"/>
                  </a:cubicBezTo>
                  <a:lnTo>
                    <a:pt x="6807200" y="5793232"/>
                  </a:lnTo>
                  <a:cubicBezTo>
                    <a:pt x="6807200" y="5933440"/>
                    <a:pt x="6693535" y="6047232"/>
                    <a:pt x="6553200" y="6047232"/>
                  </a:cubicBezTo>
                  <a:lnTo>
                    <a:pt x="254000" y="6047232"/>
                  </a:lnTo>
                  <a:cubicBezTo>
                    <a:pt x="113792" y="6047232"/>
                    <a:pt x="0" y="5933567"/>
                    <a:pt x="0" y="5793232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91300" y="3173016"/>
            <a:ext cx="5105400" cy="4535386"/>
            <a:chOff x="0" y="0"/>
            <a:chExt cx="6807200" cy="60471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7200" cy="254000"/>
            </a:xfrm>
            <a:custGeom>
              <a:avLst/>
              <a:gdLst/>
              <a:ahLst/>
              <a:cxnLst/>
              <a:rect r="r" b="b" t="t" l="l"/>
              <a:pathLst>
                <a:path h="254000" w="6807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53200" y="0"/>
                  </a:lnTo>
                  <a:cubicBezTo>
                    <a:pt x="6620510" y="0"/>
                    <a:pt x="6685153" y="26797"/>
                    <a:pt x="6732778" y="74422"/>
                  </a:cubicBezTo>
                  <a:cubicBezTo>
                    <a:pt x="6780403" y="122047"/>
                    <a:pt x="6807200" y="186690"/>
                    <a:pt x="6807200" y="254000"/>
                  </a:cubicBezTo>
                  <a:cubicBezTo>
                    <a:pt x="6807200" y="169799"/>
                    <a:pt x="6693535" y="101600"/>
                    <a:pt x="6553200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34200" y="3496866"/>
            <a:ext cx="4552188" cy="4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사장님이 느끼는 부담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963400" y="3173016"/>
            <a:ext cx="5105400" cy="4535386"/>
            <a:chOff x="0" y="0"/>
            <a:chExt cx="6807200" cy="6047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7200" cy="6047232"/>
            </a:xfrm>
            <a:custGeom>
              <a:avLst/>
              <a:gdLst/>
              <a:ahLst/>
              <a:cxnLst/>
              <a:rect r="r" b="b" t="t" l="l"/>
              <a:pathLst>
                <a:path h="6047232" w="6807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53200" y="0"/>
                  </a:lnTo>
                  <a:cubicBezTo>
                    <a:pt x="6693408" y="0"/>
                    <a:pt x="6807200" y="113665"/>
                    <a:pt x="6807200" y="254000"/>
                  </a:cubicBezTo>
                  <a:lnTo>
                    <a:pt x="6807200" y="5793232"/>
                  </a:lnTo>
                  <a:cubicBezTo>
                    <a:pt x="6807200" y="5933440"/>
                    <a:pt x="6693535" y="6047232"/>
                    <a:pt x="6553200" y="6047232"/>
                  </a:cubicBezTo>
                  <a:lnTo>
                    <a:pt x="254000" y="6047232"/>
                  </a:lnTo>
                  <a:cubicBezTo>
                    <a:pt x="113792" y="6047232"/>
                    <a:pt x="0" y="5933567"/>
                    <a:pt x="0" y="5793232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963400" y="3173016"/>
            <a:ext cx="5105400" cy="4535386"/>
            <a:chOff x="0" y="0"/>
            <a:chExt cx="6807200" cy="60471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07200" cy="254000"/>
            </a:xfrm>
            <a:custGeom>
              <a:avLst/>
              <a:gdLst/>
              <a:ahLst/>
              <a:cxnLst/>
              <a:rect r="r" b="b" t="t" l="l"/>
              <a:pathLst>
                <a:path h="254000" w="6807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53200" y="0"/>
                  </a:lnTo>
                  <a:cubicBezTo>
                    <a:pt x="6620510" y="0"/>
                    <a:pt x="6685153" y="26797"/>
                    <a:pt x="6732778" y="74422"/>
                  </a:cubicBezTo>
                  <a:cubicBezTo>
                    <a:pt x="6780403" y="122047"/>
                    <a:pt x="6807200" y="186690"/>
                    <a:pt x="6807200" y="254000"/>
                  </a:cubicBezTo>
                  <a:cubicBezTo>
                    <a:pt x="6807200" y="169799"/>
                    <a:pt x="6693535" y="101600"/>
                    <a:pt x="6553200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306300" y="3496866"/>
            <a:ext cx="455218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급식업체도 마찬가지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06300" y="4005415"/>
            <a:ext cx="4552188" cy="8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5400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약 5%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06300" y="4864446"/>
            <a:ext cx="4552188" cy="7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대형 위탁급식사의 영업이익률 (2024, 삼성웰스토리)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06300" y="5655021"/>
            <a:ext cx="4552188" cy="85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계약 단가는 쉽게 못 올리는데 식재료값은 오르는 구조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06300" y="6559896"/>
            <a:ext cx="45521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중소 급식업체 수치는 미확인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526" y="9694936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농식품부·KREI 외식업체 경영실태조사(매일일보 2026.9), KREI 2023 조사, 머니투데이(2026.10), 대한급식신문(2025.2) · 03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80857" y="3754229"/>
            <a:ext cx="2926286" cy="3814332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003022" y="5567010"/>
            <a:ext cx="2546212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lang="en-US" sz="1800">
                <a:solidFill>
                  <a:srgbClr val="FFFDF8"/>
                </a:solidFill>
                <a:latin typeface="Noto Sans"/>
                <a:ea typeface="Noto Sans"/>
                <a:cs typeface="Noto Sans"/>
                <a:sym typeface="Noto Sans"/>
              </a:rPr>
              <a:t>2015 → 2024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7803652"/>
            <a:ext cx="10017323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계산 예시: 식재료비를 3%만 줄여도 매출 대비 약 1.2%p, 영업이익(8.7%)의 약 14%에 해당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· 왜 대구인가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96333"/>
            <a:ext cx="16325088" cy="77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4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식당은 많고 버티기는 어렵다, 그리고 남부권 최대 도매시장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8725" y="2712539"/>
            <a:ext cx="5079949" cy="4093521"/>
            <a:chOff x="0" y="0"/>
            <a:chExt cx="6773266" cy="5458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5457952"/>
            </a:xfrm>
            <a:custGeom>
              <a:avLst/>
              <a:gdLst/>
              <a:ahLst/>
              <a:cxnLst/>
              <a:rect r="r" b="b" t="t" l="l"/>
              <a:pathLst>
                <a:path h="5457952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659626" y="0"/>
                    <a:pt x="6773291" y="113665"/>
                    <a:pt x="6773291" y="254000"/>
                  </a:cubicBezTo>
                  <a:lnTo>
                    <a:pt x="6773291" y="5203952"/>
                  </a:lnTo>
                  <a:cubicBezTo>
                    <a:pt x="6773291" y="5344287"/>
                    <a:pt x="6659626" y="5457952"/>
                    <a:pt x="6519291" y="5457952"/>
                  </a:cubicBezTo>
                  <a:lnTo>
                    <a:pt x="254000" y="5457952"/>
                  </a:lnTo>
                  <a:cubicBezTo>
                    <a:pt x="113665" y="5457952"/>
                    <a:pt x="0" y="5344287"/>
                    <a:pt x="0" y="5203952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2712539"/>
            <a:ext cx="5079949" cy="4093521"/>
            <a:chOff x="0" y="0"/>
            <a:chExt cx="6773266" cy="54580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3291" cy="254000"/>
            </a:xfrm>
            <a:custGeom>
              <a:avLst/>
              <a:gdLst/>
              <a:ahLst/>
              <a:cxnLst/>
              <a:rect r="r" b="b" t="t" l="l"/>
              <a:pathLst>
                <a:path h="254000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586601" y="0"/>
                    <a:pt x="6651244" y="26797"/>
                    <a:pt x="6698869" y="74422"/>
                  </a:cubicBezTo>
                  <a:cubicBezTo>
                    <a:pt x="6746494" y="122047"/>
                    <a:pt x="6773291" y="186690"/>
                    <a:pt x="6773291" y="254000"/>
                  </a:cubicBezTo>
                  <a:cubicBezTo>
                    <a:pt x="6773291" y="169799"/>
                    <a:pt x="6659626" y="101600"/>
                    <a:pt x="6519291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00200" y="3074489"/>
            <a:ext cx="4447489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수요처가 밀집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200" y="3583038"/>
            <a:ext cx="4447489" cy="8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54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19,156곳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0200" y="4451604"/>
            <a:ext cx="4447489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DF8"/>
                </a:solidFill>
                <a:latin typeface="Noto Sans"/>
                <a:ea typeface="Noto Sans"/>
                <a:cs typeface="Noto Sans"/>
                <a:sym typeface="Noto Sans"/>
              </a:rPr>
              <a:t>대구 한식음식점 수 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DF8"/>
                </a:solidFill>
                <a:latin typeface="Noto Sans"/>
                <a:ea typeface="Noto Sans"/>
                <a:cs typeface="Noto Sans"/>
                <a:sym typeface="Noto Sans"/>
              </a:rPr>
              <a:t>1년 내 588곳 감소(−3.0%),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FFFDF8"/>
                </a:solidFill>
                <a:latin typeface="Noto Sans"/>
                <a:ea typeface="Noto Sans"/>
                <a:cs typeface="Noto Sans"/>
                <a:sym typeface="Noto Sans"/>
              </a:rPr>
              <a:t> 분식점은 −6.0%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482" y="9813691"/>
            <a:ext cx="17561893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동북지방데이터청 · 대구일보(2026.8), 국세청 · 영남일보, 한국일보(2024.1), 매일신문(2024.5)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03949" y="2712539"/>
            <a:ext cx="5080102" cy="4093521"/>
            <a:chOff x="0" y="0"/>
            <a:chExt cx="6773469" cy="5458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3418" cy="5457952"/>
            </a:xfrm>
            <a:custGeom>
              <a:avLst/>
              <a:gdLst/>
              <a:ahLst/>
              <a:cxnLst/>
              <a:rect r="r" b="b" t="t" l="l"/>
              <a:pathLst>
                <a:path h="5457952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659753" y="0"/>
                    <a:pt x="6773418" y="113665"/>
                    <a:pt x="6773418" y="254000"/>
                  </a:cubicBezTo>
                  <a:lnTo>
                    <a:pt x="6773418" y="5203952"/>
                  </a:lnTo>
                  <a:cubicBezTo>
                    <a:pt x="6773418" y="5344287"/>
                    <a:pt x="6659753" y="5457952"/>
                    <a:pt x="6519418" y="5457952"/>
                  </a:cubicBezTo>
                  <a:lnTo>
                    <a:pt x="254000" y="5457952"/>
                  </a:lnTo>
                  <a:cubicBezTo>
                    <a:pt x="113665" y="5457952"/>
                    <a:pt x="0" y="5344287"/>
                    <a:pt x="0" y="5203952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03949" y="2712539"/>
            <a:ext cx="5080102" cy="4093521"/>
            <a:chOff x="0" y="0"/>
            <a:chExt cx="6773469" cy="54580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73418" cy="254000"/>
            </a:xfrm>
            <a:custGeom>
              <a:avLst/>
              <a:gdLst/>
              <a:ahLst/>
              <a:cxnLst/>
              <a:rect r="r" b="b" t="t" l="l"/>
              <a:pathLst>
                <a:path h="254000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586728" y="0"/>
                    <a:pt x="6651372" y="26797"/>
                    <a:pt x="6698997" y="74422"/>
                  </a:cubicBezTo>
                  <a:cubicBezTo>
                    <a:pt x="6746622" y="122047"/>
                    <a:pt x="6773418" y="186690"/>
                    <a:pt x="6773418" y="254000"/>
                  </a:cubicBezTo>
                  <a:cubicBezTo>
                    <a:pt x="6773418" y="169799"/>
                    <a:pt x="6659753" y="101600"/>
                    <a:pt x="6519418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84949" y="3074489"/>
            <a:ext cx="4447642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원가 관리가 절실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84949" y="3583038"/>
            <a:ext cx="4447642" cy="8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54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−757곳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4949" y="4403969"/>
            <a:ext cx="4447642" cy="102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23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2024년 대구 외식업 순창업</a:t>
            </a:r>
          </a:p>
          <a:p>
            <a:pPr algn="l">
              <a:lnSpc>
                <a:spcPts val="422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1988851" y="2712539"/>
            <a:ext cx="5079949" cy="4093521"/>
            <a:chOff x="0" y="0"/>
            <a:chExt cx="6773266" cy="54580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73291" cy="5457952"/>
            </a:xfrm>
            <a:custGeom>
              <a:avLst/>
              <a:gdLst/>
              <a:ahLst/>
              <a:cxnLst/>
              <a:rect r="r" b="b" t="t" l="l"/>
              <a:pathLst>
                <a:path h="5457952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659626" y="0"/>
                    <a:pt x="6773291" y="113665"/>
                    <a:pt x="6773291" y="254000"/>
                  </a:cubicBezTo>
                  <a:lnTo>
                    <a:pt x="6773291" y="5203952"/>
                  </a:lnTo>
                  <a:cubicBezTo>
                    <a:pt x="6773291" y="5344287"/>
                    <a:pt x="6659626" y="5457952"/>
                    <a:pt x="6519291" y="5457952"/>
                  </a:cubicBezTo>
                  <a:lnTo>
                    <a:pt x="254000" y="5457952"/>
                  </a:lnTo>
                  <a:cubicBezTo>
                    <a:pt x="113665" y="5457952"/>
                    <a:pt x="0" y="5344287"/>
                    <a:pt x="0" y="5203952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69851" y="2998289"/>
            <a:ext cx="4447489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시세 데이터 기반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69851" y="3506838"/>
            <a:ext cx="4447489" cy="8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54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1.24조 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69851" y="4337294"/>
            <a:ext cx="4447489" cy="96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대구농수산물도매시장 2023 거래액 </a:t>
            </a:r>
          </a:p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전국 공영도매시장 3위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9200" y="7190990"/>
            <a:ext cx="15645807" cy="489101"/>
            <a:chOff x="0" y="0"/>
            <a:chExt cx="21132800" cy="6606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32800" cy="660629"/>
            </a:xfrm>
            <a:custGeom>
              <a:avLst/>
              <a:gdLst/>
              <a:ahLst/>
              <a:cxnLst/>
              <a:rect r="r" b="b" t="t" l="l"/>
              <a:pathLst>
                <a:path h="660629" w="21132800">
                  <a:moveTo>
                    <a:pt x="0" y="117445"/>
                  </a:moveTo>
                  <a:cubicBezTo>
                    <a:pt x="0" y="52557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52557"/>
                    <a:pt x="21132800" y="117445"/>
                  </a:cubicBezTo>
                  <a:lnTo>
                    <a:pt x="21132800" y="543184"/>
                  </a:lnTo>
                  <a:cubicBezTo>
                    <a:pt x="21132800" y="608072"/>
                    <a:pt x="21041868" y="660629"/>
                    <a:pt x="20929600" y="660629"/>
                  </a:cubicBezTo>
                  <a:lnTo>
                    <a:pt x="203200" y="660629"/>
                  </a:lnTo>
                  <a:cubicBezTo>
                    <a:pt x="90932" y="660629"/>
                    <a:pt x="0" y="608072"/>
                    <a:pt x="0" y="543184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21132800" cy="77492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780"/>
                </a:lnSpc>
              </a:pPr>
              <a:r>
                <a:rPr lang="en-US" b="true" sz="2100">
                  <a:solidFill>
                    <a:srgbClr val="0F2B26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원가 압박이 큰 식당이 밀집 + 지역 시세를 만드는 대형 도매시장 + CJ프레시웨이 ‘식봄’ 경상권 직배송 확대 → 대구는 첫 적용 지역으로 적합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2993288" cy="31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1575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02-1 · 대구 외식 시장의 성격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5071" y="9759596"/>
            <a:ext cx="16325088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한국프랜차이즈산업협회 기고(2019), 인사이트(2019), 국가데이터처 동북지방데이터청(2025.10), 국세청·천지일보(2026.9), 영남일보(2026.1), 서울신문(2022) · 05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05702" y="468983"/>
            <a:ext cx="7781852" cy="900260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817756" y="4982156"/>
            <a:ext cx="1697963" cy="185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1"/>
              </a:lnSpc>
            </a:pPr>
            <a:r>
              <a:rPr lang="en-US" b="true" sz="457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대구</a:t>
            </a:r>
          </a:p>
          <a:p>
            <a:pPr algn="ctr">
              <a:lnSpc>
                <a:spcPts val="7681"/>
              </a:lnSpc>
            </a:pPr>
            <a:r>
              <a:rPr lang="en-US" b="true" sz="457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01446" y="4633811"/>
            <a:ext cx="1344728" cy="141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b="true" sz="346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경기</a:t>
            </a:r>
          </a:p>
          <a:p>
            <a:pPr algn="ctr">
              <a:lnSpc>
                <a:spcPts val="5819"/>
              </a:lnSpc>
            </a:pPr>
            <a:r>
              <a:rPr lang="en-US" b="true" sz="346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3810" y="3593842"/>
            <a:ext cx="969873" cy="66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b="true" sz="163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대전</a:t>
            </a:r>
          </a:p>
          <a:p>
            <a:pPr algn="ctr">
              <a:lnSpc>
                <a:spcPts val="2743"/>
              </a:lnSpc>
            </a:pPr>
            <a:r>
              <a:rPr lang="en-US" b="true" sz="163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12.5%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025486"/>
            <a:ext cx="7924800" cy="92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b="true" sz="466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프랜차이즈의 대표 출발지 : 대구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0610" y="4372750"/>
            <a:ext cx="4916322" cy="196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3"/>
              </a:lnSpc>
            </a:pPr>
            <a:r>
              <a:rPr lang="en-US" b="true" sz="11995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약 50%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5585" y="6200000"/>
            <a:ext cx="6492029" cy="58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1"/>
              </a:lnSpc>
            </a:pPr>
            <a:r>
              <a:rPr lang="en-US" b="true" sz="2999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대구 : 새 브랜드가 시작 &amp; 검증 되는 시장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48433" y="3007577"/>
            <a:ext cx="1180472" cy="66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b="true" sz="163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</a:p>
          <a:p>
            <a:pPr algn="ctr">
              <a:lnSpc>
                <a:spcPts val="2743"/>
              </a:lnSpc>
            </a:pPr>
            <a:r>
              <a:rPr lang="en-US" b="true" sz="163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12.5%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5778" y="3038639"/>
            <a:ext cx="6092041" cy="4694979"/>
            <a:chOff x="0" y="0"/>
            <a:chExt cx="8122721" cy="625997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23825"/>
              <a:ext cx="8122721" cy="675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03"/>
                </a:lnSpc>
              </a:pPr>
              <a:r>
                <a:rPr lang="en-US" b="true" sz="274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규모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20875"/>
              <a:ext cx="8122721" cy="1135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0"/>
                </a:lnSpc>
              </a:pPr>
              <a:r>
                <a:rPr lang="en-US" b="true" sz="4637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25.2만 명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0433"/>
              <a:ext cx="8122721" cy="138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0"/>
                </a:lnSpc>
              </a:pPr>
              <a:r>
                <a:rPr lang="en-US" b="true" sz="4637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20.7%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0565"/>
              <a:ext cx="8122721" cy="78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49"/>
                </a:lnSpc>
              </a:pPr>
              <a:r>
                <a:rPr lang="en-US" sz="2529">
                  <a:solidFill>
                    <a:srgbClr val="3A4743"/>
                  </a:solidFill>
                  <a:latin typeface="Noto Sans"/>
                  <a:ea typeface="Noto Sans"/>
                  <a:cs typeface="Noto Sans"/>
                  <a:sym typeface="Noto Sans"/>
                </a:rPr>
                <a:t>취업자 중 자영업자 비중 · 전국 19.8%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244647"/>
              <a:ext cx="8122721" cy="138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0"/>
                </a:lnSpc>
              </a:pPr>
              <a:r>
                <a:rPr lang="en-US" b="true" sz="4637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약 80곳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474779"/>
              <a:ext cx="8122721" cy="78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49"/>
                </a:lnSpc>
              </a:pPr>
              <a:r>
                <a:rPr lang="en-US" sz="2529">
                  <a:solidFill>
                    <a:srgbClr val="3A4743"/>
                  </a:solidFill>
                  <a:latin typeface="Noto Sans"/>
                  <a:ea typeface="Noto Sans"/>
                  <a:cs typeface="Noto Sans"/>
                  <a:sym typeface="Noto Sans"/>
                </a:rPr>
                <a:t>인구 1만 명당 한식음식점 · 전국 약 79곳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57819" y="2421582"/>
            <a:ext cx="9358824" cy="6239216"/>
          </a:xfrm>
          <a:custGeom>
            <a:avLst/>
            <a:gdLst/>
            <a:ahLst/>
            <a:cxnLst/>
            <a:rect r="r" b="b" t="t" l="l"/>
            <a:pathLst>
              <a:path h="6239216" w="9358824">
                <a:moveTo>
                  <a:pt x="0" y="0"/>
                </a:moveTo>
                <a:lnTo>
                  <a:pt x="9358824" y="0"/>
                </a:lnTo>
                <a:lnTo>
                  <a:pt x="9358824" y="6239216"/>
                </a:lnTo>
                <a:lnTo>
                  <a:pt x="0" y="623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9200" y="1143000"/>
            <a:ext cx="16325088" cy="38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1575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02-1 · 대구 외식 시장의 성격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1570434"/>
            <a:ext cx="11274748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b="true" sz="31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치킨 프랜차이즈가 태어난 도시, 대구 자영업 비중은 전국보다 높다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014" y="9871767"/>
            <a:ext cx="16325088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한국프랜차이즈산업협회 기고(2019), 인사이트(2019), 국가데이터처 동북지방데이터청(2025.10), 국세청·천지일보(2026.9), 영남일보(2026.1), 서울신문(2022) · 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778" y="4153763"/>
            <a:ext cx="6092041" cy="49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529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대구</a:t>
            </a:r>
            <a:r>
              <a:rPr lang="en-US" sz="2529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 자영업자 (2024)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5879" y="9182871"/>
            <a:ext cx="15849600" cy="752475"/>
            <a:chOff x="0" y="0"/>
            <a:chExt cx="21132800" cy="100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1003300"/>
            </a:xfrm>
            <a:custGeom>
              <a:avLst/>
              <a:gdLst/>
              <a:ahLst/>
              <a:cxnLst/>
              <a:rect r="r" b="b" t="t" l="l"/>
              <a:pathLst>
                <a:path h="1003300" w="211328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90932"/>
                    <a:pt x="21132800" y="203200"/>
                  </a:cubicBezTo>
                  <a:lnTo>
                    <a:pt x="21132800" y="800100"/>
                  </a:lnTo>
                  <a:cubicBezTo>
                    <a:pt x="21132800" y="912368"/>
                    <a:pt x="21041868" y="1003300"/>
                    <a:pt x="20929600" y="1003300"/>
                  </a:cubicBezTo>
                  <a:lnTo>
                    <a:pt x="203200" y="1003300"/>
                  </a:lnTo>
                  <a:cubicBezTo>
                    <a:pt x="90932" y="1003300"/>
                    <a:pt x="0" y="912368"/>
                    <a:pt x="0" y="800100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1132800" cy="11557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769"/>
                </a:lnSpc>
              </a:pPr>
              <a:r>
                <a:rPr lang="en-US" b="true" sz="2649">
                  <a:solidFill>
                    <a:srgbClr val="F6F4E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               </a:t>
              </a:r>
              <a:r>
                <a:rPr lang="en-US" b="true" sz="2649">
                  <a:solidFill>
                    <a:srgbClr val="F6F4E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프레시엔 종료(2026.9) → 식봄으로 이전 중: 그 자리에 ‘대구 발주 레이어’를 먼저 검증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9200" y="2681080"/>
            <a:ext cx="6174723" cy="5979984"/>
          </a:xfrm>
          <a:custGeom>
            <a:avLst/>
            <a:gdLst/>
            <a:ahLst/>
            <a:cxnLst/>
            <a:rect r="r" b="b" t="t" l="l"/>
            <a:pathLst>
              <a:path h="5979984" w="6174723">
                <a:moveTo>
                  <a:pt x="0" y="0"/>
                </a:moveTo>
                <a:lnTo>
                  <a:pt x="6174723" y="0"/>
                </a:lnTo>
                <a:lnTo>
                  <a:pt x="6174723" y="5979984"/>
                </a:lnTo>
                <a:lnTo>
                  <a:pt x="0" y="5979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7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3289" y="5636282"/>
            <a:ext cx="9217629" cy="3024782"/>
          </a:xfrm>
          <a:custGeom>
            <a:avLst/>
            <a:gdLst/>
            <a:ahLst/>
            <a:cxnLst/>
            <a:rect r="r" b="b" t="t" l="l"/>
            <a:pathLst>
              <a:path h="3024782" w="9217629">
                <a:moveTo>
                  <a:pt x="0" y="0"/>
                </a:moveTo>
                <a:lnTo>
                  <a:pt x="9217629" y="0"/>
                </a:lnTo>
                <a:lnTo>
                  <a:pt x="9217629" y="3024782"/>
                </a:lnTo>
                <a:lnTo>
                  <a:pt x="0" y="3024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1" r="0" b="-467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43289" y="2681080"/>
            <a:ext cx="9217629" cy="2785160"/>
          </a:xfrm>
          <a:custGeom>
            <a:avLst/>
            <a:gdLst/>
            <a:ahLst/>
            <a:cxnLst/>
            <a:rect r="r" b="b" t="t" l="l"/>
            <a:pathLst>
              <a:path h="2785160" w="9217629">
                <a:moveTo>
                  <a:pt x="0" y="0"/>
                </a:moveTo>
                <a:lnTo>
                  <a:pt x="9217629" y="0"/>
                </a:lnTo>
                <a:lnTo>
                  <a:pt x="9217629" y="2785160"/>
                </a:lnTo>
                <a:lnTo>
                  <a:pt x="0" y="2785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36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03-Overview  · CJ가 이미 가고 있는 방향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1615383"/>
            <a:ext cx="16325088" cy="66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CJ프레시웨이는 이미 ‘데이터로 주문을 돕는 식봄’으로 가고 있다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· 왜 CJ프레시웨이인가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이미 갖춘 플랫폼·물류 위에 ‘대구 데이터 레이어’를 얹는다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880274"/>
            <a:ext cx="7791450" cy="2167833"/>
            <a:chOff x="0" y="0"/>
            <a:chExt cx="10388600" cy="28904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88600" cy="2890393"/>
            </a:xfrm>
            <a:custGeom>
              <a:avLst/>
              <a:gdLst/>
              <a:ahLst/>
              <a:cxnLst/>
              <a:rect r="r" b="b" t="t" l="l"/>
              <a:pathLst>
                <a:path h="2890393" w="10388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34600" y="0"/>
                  </a:lnTo>
                  <a:cubicBezTo>
                    <a:pt x="10274935" y="0"/>
                    <a:pt x="10388600" y="113665"/>
                    <a:pt x="10388600" y="254000"/>
                  </a:cubicBezTo>
                  <a:lnTo>
                    <a:pt x="10388600" y="2636393"/>
                  </a:lnTo>
                  <a:cubicBezTo>
                    <a:pt x="10388600" y="2776728"/>
                    <a:pt x="10274935" y="2890393"/>
                    <a:pt x="10134600" y="2890393"/>
                  </a:cubicBezTo>
                  <a:lnTo>
                    <a:pt x="254000" y="2890393"/>
                  </a:lnTo>
                  <a:cubicBezTo>
                    <a:pt x="113665" y="2890393"/>
                    <a:pt x="0" y="2776728"/>
                    <a:pt x="0" y="2636393"/>
                  </a:cubicBezTo>
                  <a:close/>
                </a:path>
              </a:pathLst>
            </a:custGeom>
            <a:solidFill>
              <a:srgbClr val="173B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0200" y="3185074"/>
            <a:ext cx="7240334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플랫폼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3628873"/>
            <a:ext cx="724033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식봄 운영사 마켓보로 최대주주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4152748"/>
            <a:ext cx="724033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2026년 지분 55% 확보 · 식봄 연간 거래액 2,341억 원(2025)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77350" y="2880274"/>
            <a:ext cx="7791450" cy="2167833"/>
            <a:chOff x="0" y="0"/>
            <a:chExt cx="10388600" cy="2890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88600" cy="2890393"/>
            </a:xfrm>
            <a:custGeom>
              <a:avLst/>
              <a:gdLst/>
              <a:ahLst/>
              <a:cxnLst/>
              <a:rect r="r" b="b" t="t" l="l"/>
              <a:pathLst>
                <a:path h="2890393" w="10388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34600" y="0"/>
                  </a:lnTo>
                  <a:cubicBezTo>
                    <a:pt x="10274935" y="0"/>
                    <a:pt x="10388600" y="113665"/>
                    <a:pt x="10388600" y="254000"/>
                  </a:cubicBezTo>
                  <a:lnTo>
                    <a:pt x="10388600" y="2636393"/>
                  </a:lnTo>
                  <a:cubicBezTo>
                    <a:pt x="10388600" y="2776728"/>
                    <a:pt x="10274935" y="2890393"/>
                    <a:pt x="10134600" y="2890393"/>
                  </a:cubicBezTo>
                  <a:lnTo>
                    <a:pt x="254000" y="2890393"/>
                  </a:lnTo>
                  <a:cubicBezTo>
                    <a:pt x="113665" y="2890393"/>
                    <a:pt x="0" y="2776728"/>
                    <a:pt x="0" y="2636393"/>
                  </a:cubicBezTo>
                  <a:close/>
                </a:path>
              </a:pathLst>
            </a:custGeom>
            <a:solidFill>
              <a:srgbClr val="173B3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58350" y="3185074"/>
            <a:ext cx="7240334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배송권역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8350" y="3628873"/>
            <a:ext cx="3802142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식봄 직배송 경상권 확대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8350" y="4152748"/>
            <a:ext cx="724033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수도권·충청에서 경상·전라로 확대, 전국 172개 시군구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9200" y="5314798"/>
            <a:ext cx="7791450" cy="2567883"/>
            <a:chOff x="0" y="0"/>
            <a:chExt cx="10388600" cy="3423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8600" cy="3423793"/>
            </a:xfrm>
            <a:custGeom>
              <a:avLst/>
              <a:gdLst/>
              <a:ahLst/>
              <a:cxnLst/>
              <a:rect r="r" b="b" t="t" l="l"/>
              <a:pathLst>
                <a:path h="3423793" w="10388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34600" y="0"/>
                  </a:lnTo>
                  <a:cubicBezTo>
                    <a:pt x="10274935" y="0"/>
                    <a:pt x="10388600" y="113665"/>
                    <a:pt x="10388600" y="254000"/>
                  </a:cubicBezTo>
                  <a:lnTo>
                    <a:pt x="10388600" y="3169793"/>
                  </a:lnTo>
                  <a:cubicBezTo>
                    <a:pt x="10388600" y="3310128"/>
                    <a:pt x="10274935" y="3423793"/>
                    <a:pt x="10134600" y="3423793"/>
                  </a:cubicBezTo>
                  <a:lnTo>
                    <a:pt x="254000" y="3423793"/>
                  </a:lnTo>
                  <a:cubicBezTo>
                    <a:pt x="113665" y="3423793"/>
                    <a:pt x="0" y="3310128"/>
                    <a:pt x="0" y="3169793"/>
                  </a:cubicBezTo>
                  <a:close/>
                </a:path>
              </a:pathLst>
            </a:custGeom>
            <a:solidFill>
              <a:srgbClr val="173B3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00200" y="5619598"/>
            <a:ext cx="7240334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물류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0200" y="6063405"/>
            <a:ext cx="724033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영남권 동부 물류센터(양산)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0200" y="6587280"/>
            <a:ext cx="724033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전국 23개 거점 배송망 + 콜드체인 기반 온라인 주문 배송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77350" y="5314798"/>
            <a:ext cx="7791450" cy="2567883"/>
            <a:chOff x="0" y="0"/>
            <a:chExt cx="10388600" cy="34238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88600" cy="3423793"/>
            </a:xfrm>
            <a:custGeom>
              <a:avLst/>
              <a:gdLst/>
              <a:ahLst/>
              <a:cxnLst/>
              <a:rect r="r" b="b" t="t" l="l"/>
              <a:pathLst>
                <a:path h="3423793" w="10388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34600" y="0"/>
                  </a:lnTo>
                  <a:cubicBezTo>
                    <a:pt x="10274935" y="0"/>
                    <a:pt x="10388600" y="113665"/>
                    <a:pt x="10388600" y="254000"/>
                  </a:cubicBezTo>
                  <a:lnTo>
                    <a:pt x="10388600" y="3169793"/>
                  </a:lnTo>
                  <a:cubicBezTo>
                    <a:pt x="10388600" y="3310128"/>
                    <a:pt x="10274935" y="3423793"/>
                    <a:pt x="10134600" y="3423793"/>
                  </a:cubicBezTo>
                  <a:lnTo>
                    <a:pt x="254000" y="3423793"/>
                  </a:lnTo>
                  <a:cubicBezTo>
                    <a:pt x="113665" y="3423793"/>
                    <a:pt x="0" y="3310128"/>
                    <a:pt x="0" y="3169793"/>
                  </a:cubicBezTo>
                  <a:close/>
                </a:path>
              </a:pathLst>
            </a:custGeom>
            <a:solidFill>
              <a:srgbClr val="173B3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658350" y="5619598"/>
            <a:ext cx="7240334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온라인 채널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8350" y="6063405"/>
            <a:ext cx="4632722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프레시엔 종료 → 식봄 일원화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8350" y="6587280"/>
            <a:ext cx="724033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2026년 9월 자체몰 영업 종료, 상품·서비스 식봄 이전 · 이용자 약 23만 명(4월)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526" y="974958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출처: 디지털데일리(2026.02), 서플(2026), 시대경제(2026.07), CJ뉴스룸 · 대구 단독 수치는 미확인 · 06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0" y="5105400"/>
            <a:ext cx="4572000" cy="76200"/>
            <a:chOff x="0" y="0"/>
            <a:chExt cx="6096000" cy="101600"/>
          </a:xfrm>
        </p:grpSpPr>
        <p:sp>
          <p:nvSpPr>
            <p:cNvPr name="Freeform 26" id="26" descr="line"/>
            <p:cNvSpPr/>
            <p:nvPr/>
          </p:nvSpPr>
          <p:spPr>
            <a:xfrm flipH="false" flipV="false" rot="0">
              <a:off x="0" y="0"/>
              <a:ext cx="609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14295" y="3413291"/>
            <a:ext cx="5901081" cy="4952756"/>
            <a:chOff x="0" y="0"/>
            <a:chExt cx="7868108" cy="6603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8108" cy="6603617"/>
            </a:xfrm>
            <a:custGeom>
              <a:avLst/>
              <a:gdLst/>
              <a:ahLst/>
              <a:cxnLst/>
              <a:rect r="r" b="b" t="t" l="l"/>
              <a:pathLst>
                <a:path h="6603617" w="7868108">
                  <a:moveTo>
                    <a:pt x="0" y="381767"/>
                  </a:moveTo>
                  <a:cubicBezTo>
                    <a:pt x="0" y="170841"/>
                    <a:pt x="86404" y="0"/>
                    <a:pt x="193082" y="0"/>
                  </a:cubicBezTo>
                  <a:lnTo>
                    <a:pt x="7675026" y="0"/>
                  </a:lnTo>
                  <a:cubicBezTo>
                    <a:pt x="7781704" y="0"/>
                    <a:pt x="7868108" y="170841"/>
                    <a:pt x="7868108" y="381767"/>
                  </a:cubicBezTo>
                  <a:lnTo>
                    <a:pt x="7868108" y="6221850"/>
                  </a:lnTo>
                  <a:cubicBezTo>
                    <a:pt x="7868108" y="6432776"/>
                    <a:pt x="7781704" y="6603617"/>
                    <a:pt x="7675026" y="6603617"/>
                  </a:cubicBezTo>
                  <a:lnTo>
                    <a:pt x="193082" y="6603617"/>
                  </a:lnTo>
                  <a:cubicBezTo>
                    <a:pt x="86404" y="6603617"/>
                    <a:pt x="0" y="6432776"/>
                    <a:pt x="0" y="6221850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3413291"/>
            <a:ext cx="9183356" cy="4952756"/>
            <a:chOff x="0" y="0"/>
            <a:chExt cx="8745960" cy="47168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45960" cy="4716819"/>
            </a:xfrm>
            <a:custGeom>
              <a:avLst/>
              <a:gdLst/>
              <a:ahLst/>
              <a:cxnLst/>
              <a:rect r="r" b="b" t="t" l="l"/>
              <a:pathLst>
                <a:path h="4716819" w="8745960">
                  <a:moveTo>
                    <a:pt x="0" y="272688"/>
                  </a:moveTo>
                  <a:cubicBezTo>
                    <a:pt x="0" y="122028"/>
                    <a:pt x="96045" y="0"/>
                    <a:pt x="214625" y="0"/>
                  </a:cubicBezTo>
                  <a:lnTo>
                    <a:pt x="8531335" y="0"/>
                  </a:lnTo>
                  <a:cubicBezTo>
                    <a:pt x="8649915" y="0"/>
                    <a:pt x="8745960" y="122028"/>
                    <a:pt x="8745960" y="272688"/>
                  </a:cubicBezTo>
                  <a:lnTo>
                    <a:pt x="8745960" y="4444131"/>
                  </a:lnTo>
                  <a:cubicBezTo>
                    <a:pt x="8745960" y="4594791"/>
                    <a:pt x="8649915" y="4716819"/>
                    <a:pt x="8531335" y="4716819"/>
                  </a:cubicBezTo>
                  <a:lnTo>
                    <a:pt x="214625" y="4716819"/>
                  </a:lnTo>
                  <a:cubicBezTo>
                    <a:pt x="96045" y="4716819"/>
                    <a:pt x="0" y="4594791"/>
                    <a:pt x="0" y="4444131"/>
                  </a:cubicBezTo>
                  <a:close/>
                </a:path>
              </a:pathLst>
            </a:custGeom>
            <a:solidFill>
              <a:srgbClr val="B9C4B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52211" y="4195915"/>
            <a:ext cx="2806642" cy="3866012"/>
          </a:xfrm>
          <a:custGeom>
            <a:avLst/>
            <a:gdLst/>
            <a:ahLst/>
            <a:cxnLst/>
            <a:rect r="r" b="b" t="t" l="l"/>
            <a:pathLst>
              <a:path h="3866012" w="2806642">
                <a:moveTo>
                  <a:pt x="0" y="0"/>
                </a:moveTo>
                <a:lnTo>
                  <a:pt x="2806642" y="0"/>
                </a:lnTo>
                <a:lnTo>
                  <a:pt x="2806642" y="3866011"/>
                </a:lnTo>
                <a:lnTo>
                  <a:pt x="0" y="3866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03-2 · 포지셔닝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식봄은 ‘어디서’에 답한다 — 우리는 ‘얼마나·언제’를 더한다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9757" y="3508676"/>
            <a:ext cx="7132415" cy="46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b="true" sz="244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식봄이 이미 제공하는 것 (공개 기능)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15640" y="4860317"/>
            <a:ext cx="5308313" cy="18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판매자 간 실시간 가격 비교</a:t>
            </a:r>
          </a:p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일자별 가격 흐름</a:t>
            </a:r>
          </a:p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묶음 주문 배송비 1회 · 다음 날 통합배송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58844" y="3597425"/>
            <a:ext cx="7132415" cy="52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1"/>
              </a:lnSpc>
            </a:pPr>
            <a:r>
              <a:rPr lang="en-US" b="true" sz="2649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Fresh Insight가 더하는 것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9794" y="4545959"/>
            <a:ext cx="7022687" cy="244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메뉴 기반 수요예측 → 식자재 발주량</a:t>
            </a:r>
          </a:p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공영도매시장 시세 대비 실구매가 격차</a:t>
            </a:r>
          </a:p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시세 변동을 메뉴 원가율로 번역</a:t>
            </a:r>
          </a:p>
          <a:p>
            <a:pPr algn="l" marL="416242" indent="-208121" lvl="1">
              <a:lnSpc>
                <a:spcPts val="4967"/>
              </a:lnSpc>
              <a:buFont typeface="Arial"/>
              <a:buChar char="•"/>
            </a:pPr>
            <a:r>
              <a:rPr lang="en-US" sz="2299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‘왜 이만큼인가’를 보여주는 설명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496" y="9824142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식봄 서비스 소개 페이지, 토요경제(2026.06) · 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6255" y="8766097"/>
            <a:ext cx="7735491" cy="64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7"/>
              </a:lnSpc>
              <a:spcBef>
                <a:spcPct val="0"/>
              </a:spcBef>
            </a:pPr>
            <a:r>
              <a:rPr lang="en-US" b="true" sz="3699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구매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판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단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은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AI로,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구매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연결은</a:t>
            </a:r>
            <a:r>
              <a:rPr lang="en-US" b="true" sz="3699" strike="noStrike" u="none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식봄으로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서비스 대상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5803849" cy="83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대구의 ‘구매자’ 세 그룹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717670"/>
            <a:ext cx="5079949" cy="3771748"/>
            <a:chOff x="0" y="0"/>
            <a:chExt cx="6773266" cy="50289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5028946"/>
            </a:xfrm>
            <a:custGeom>
              <a:avLst/>
              <a:gdLst/>
              <a:ahLst/>
              <a:cxnLst/>
              <a:rect r="r" b="b" t="t" l="l"/>
              <a:pathLst>
                <a:path h="5028946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659626" y="0"/>
                    <a:pt x="6773291" y="113665"/>
                    <a:pt x="6773291" y="254000"/>
                  </a:cubicBezTo>
                  <a:lnTo>
                    <a:pt x="6773291" y="4774946"/>
                  </a:lnTo>
                  <a:cubicBezTo>
                    <a:pt x="6773291" y="4915281"/>
                    <a:pt x="6659626" y="5028946"/>
                    <a:pt x="6519291" y="5028946"/>
                  </a:cubicBezTo>
                  <a:lnTo>
                    <a:pt x="254000" y="5028946"/>
                  </a:lnTo>
                  <a:cubicBezTo>
                    <a:pt x="113665" y="5028946"/>
                    <a:pt x="0" y="4915281"/>
                    <a:pt x="0" y="47749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3717670"/>
            <a:ext cx="5079949" cy="3771748"/>
            <a:chOff x="0" y="0"/>
            <a:chExt cx="6773266" cy="5028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3291" cy="254000"/>
            </a:xfrm>
            <a:custGeom>
              <a:avLst/>
              <a:gdLst/>
              <a:ahLst/>
              <a:cxnLst/>
              <a:rect r="r" b="b" t="t" l="l"/>
              <a:pathLst>
                <a:path h="254000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586601" y="0"/>
                    <a:pt x="6651244" y="26797"/>
                    <a:pt x="6698869" y="74422"/>
                  </a:cubicBezTo>
                  <a:cubicBezTo>
                    <a:pt x="6746494" y="122047"/>
                    <a:pt x="6773291" y="186690"/>
                    <a:pt x="6773291" y="254000"/>
                  </a:cubicBezTo>
                  <a:cubicBezTo>
                    <a:pt x="6773291" y="169799"/>
                    <a:pt x="6659626" y="101600"/>
                    <a:pt x="6519291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8300" y="4212970"/>
            <a:ext cx="609600" cy="609600"/>
            <a:chOff x="0" y="0"/>
            <a:chExt cx="812800" cy="812800"/>
          </a:xfrm>
        </p:grpSpPr>
        <p:sp>
          <p:nvSpPr>
            <p:cNvPr name="Freeform 9" id="9" descr="Home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8300" y="4946395"/>
            <a:ext cx="436900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외식업 자영업자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8300" y="5517895"/>
            <a:ext cx="4369003" cy="6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일반음식점 · 분식점 · 한식당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8300" y="6278982"/>
            <a:ext cx="3591577" cy="87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190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원가 관리, 소량 다빈도 발주, </a:t>
            </a:r>
          </a:p>
          <a:p>
            <a:pPr algn="l">
              <a:lnSpc>
                <a:spcPts val="3653"/>
              </a:lnSpc>
            </a:pPr>
            <a:r>
              <a:rPr lang="en-US" sz="190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구매처 탐색 시간 절감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03949" y="3717670"/>
            <a:ext cx="5080102" cy="3771748"/>
            <a:chOff x="0" y="0"/>
            <a:chExt cx="6773469" cy="5028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3418" cy="5028946"/>
            </a:xfrm>
            <a:custGeom>
              <a:avLst/>
              <a:gdLst/>
              <a:ahLst/>
              <a:cxnLst/>
              <a:rect r="r" b="b" t="t" l="l"/>
              <a:pathLst>
                <a:path h="5028946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659753" y="0"/>
                    <a:pt x="6773418" y="113665"/>
                    <a:pt x="6773418" y="254000"/>
                  </a:cubicBezTo>
                  <a:lnTo>
                    <a:pt x="6773418" y="4774946"/>
                  </a:lnTo>
                  <a:cubicBezTo>
                    <a:pt x="6773418" y="4915281"/>
                    <a:pt x="6659753" y="5028946"/>
                    <a:pt x="6519418" y="5028946"/>
                  </a:cubicBezTo>
                  <a:lnTo>
                    <a:pt x="254000" y="5028946"/>
                  </a:lnTo>
                  <a:cubicBezTo>
                    <a:pt x="113665" y="5028946"/>
                    <a:pt x="0" y="4915281"/>
                    <a:pt x="0" y="47749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03949" y="3717670"/>
            <a:ext cx="5080102" cy="3771748"/>
            <a:chOff x="0" y="0"/>
            <a:chExt cx="6773469" cy="50289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254000"/>
            </a:xfrm>
            <a:custGeom>
              <a:avLst/>
              <a:gdLst/>
              <a:ahLst/>
              <a:cxnLst/>
              <a:rect r="r" b="b" t="t" l="l"/>
              <a:pathLst>
                <a:path h="254000" w="6773418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418" y="0"/>
                  </a:lnTo>
                  <a:cubicBezTo>
                    <a:pt x="6586728" y="0"/>
                    <a:pt x="6651372" y="26797"/>
                    <a:pt x="6698997" y="74422"/>
                  </a:cubicBezTo>
                  <a:cubicBezTo>
                    <a:pt x="6746622" y="122047"/>
                    <a:pt x="6773418" y="186690"/>
                    <a:pt x="6773418" y="254000"/>
                  </a:cubicBezTo>
                  <a:cubicBezTo>
                    <a:pt x="6773418" y="169799"/>
                    <a:pt x="6659753" y="101600"/>
                    <a:pt x="6519418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23049" y="4212970"/>
            <a:ext cx="609600" cy="609600"/>
            <a:chOff x="0" y="0"/>
            <a:chExt cx="812800" cy="812800"/>
          </a:xfrm>
        </p:grpSpPr>
        <p:sp>
          <p:nvSpPr>
            <p:cNvPr name="Freeform 18" id="18" descr="Users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023049" y="4946395"/>
            <a:ext cx="436915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급식·단체급식 사업자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23049" y="5517895"/>
            <a:ext cx="4661002" cy="6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대량 구매 급식업체 · 소규모 단체급식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23049" y="6144611"/>
            <a:ext cx="4369156" cy="87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식단 단위 대량 발주, 가격 안정성,</a:t>
            </a:r>
          </a:p>
          <a:p>
            <a:pPr algn="l">
              <a:lnSpc>
                <a:spcPts val="3647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납품 일정 관리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88851" y="3717670"/>
            <a:ext cx="5079949" cy="3771748"/>
            <a:chOff x="0" y="0"/>
            <a:chExt cx="6773266" cy="50289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73291" cy="5028946"/>
            </a:xfrm>
            <a:custGeom>
              <a:avLst/>
              <a:gdLst/>
              <a:ahLst/>
              <a:cxnLst/>
              <a:rect r="r" b="b" t="t" l="l"/>
              <a:pathLst>
                <a:path h="5028946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659626" y="0"/>
                    <a:pt x="6773291" y="113665"/>
                    <a:pt x="6773291" y="254000"/>
                  </a:cubicBezTo>
                  <a:lnTo>
                    <a:pt x="6773291" y="4774946"/>
                  </a:lnTo>
                  <a:cubicBezTo>
                    <a:pt x="6773291" y="4915281"/>
                    <a:pt x="6659626" y="5028946"/>
                    <a:pt x="6519291" y="5028946"/>
                  </a:cubicBezTo>
                  <a:lnTo>
                    <a:pt x="254000" y="5028946"/>
                  </a:lnTo>
                  <a:cubicBezTo>
                    <a:pt x="113665" y="5028946"/>
                    <a:pt x="0" y="4915281"/>
                    <a:pt x="0" y="47749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988851" y="3717670"/>
            <a:ext cx="5079949" cy="3771748"/>
            <a:chOff x="0" y="0"/>
            <a:chExt cx="6773266" cy="50289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73291" cy="254000"/>
            </a:xfrm>
            <a:custGeom>
              <a:avLst/>
              <a:gdLst/>
              <a:ahLst/>
              <a:cxnLst/>
              <a:rect r="r" b="b" t="t" l="l"/>
              <a:pathLst>
                <a:path h="254000" w="6773291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19291" y="0"/>
                  </a:lnTo>
                  <a:cubicBezTo>
                    <a:pt x="6586601" y="0"/>
                    <a:pt x="6651244" y="26797"/>
                    <a:pt x="6698869" y="74422"/>
                  </a:cubicBezTo>
                  <a:cubicBezTo>
                    <a:pt x="6746494" y="122047"/>
                    <a:pt x="6773291" y="186690"/>
                    <a:pt x="6773291" y="254000"/>
                  </a:cubicBezTo>
                  <a:cubicBezTo>
                    <a:pt x="6773291" y="169799"/>
                    <a:pt x="6659626" y="101600"/>
                    <a:pt x="6519291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07951" y="4212970"/>
            <a:ext cx="609600" cy="609600"/>
            <a:chOff x="0" y="0"/>
            <a:chExt cx="812800" cy="812800"/>
          </a:xfrm>
        </p:grpSpPr>
        <p:sp>
          <p:nvSpPr>
            <p:cNvPr name="Freeform 27" id="27" descr="Database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07951" y="4946395"/>
            <a:ext cx="436900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구매·재고 관리 사업자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07951" y="5517895"/>
            <a:ext cx="4369003" cy="6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식자재 구매 · 납품 · 재고 운영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4324" y="6395409"/>
            <a:ext cx="4369003" cy="41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재고 부족·과잉 위험 감지, 적정 발주 시점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· 서비스 구조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메뉴에서 시작해 식자재 발주로 끝난다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51316" y="3502754"/>
            <a:ext cx="1458919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Input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0738" y="4591821"/>
            <a:ext cx="4320075" cy="577287"/>
            <a:chOff x="0" y="0"/>
            <a:chExt cx="5492750" cy="7339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92750" cy="734104"/>
            </a:xfrm>
            <a:custGeom>
              <a:avLst/>
              <a:gdLst/>
              <a:ahLst/>
              <a:cxnLst/>
              <a:rect r="r" b="b" t="t" l="l"/>
              <a:pathLst>
                <a:path h="734104" w="5492750">
                  <a:moveTo>
                    <a:pt x="0" y="115061"/>
                  </a:moveTo>
                  <a:cubicBezTo>
                    <a:pt x="0" y="51454"/>
                    <a:pt x="66675" y="0"/>
                    <a:pt x="149098" y="0"/>
                  </a:cubicBezTo>
                  <a:lnTo>
                    <a:pt x="5343652" y="0"/>
                  </a:lnTo>
                  <a:cubicBezTo>
                    <a:pt x="5425948" y="0"/>
                    <a:pt x="5492750" y="51454"/>
                    <a:pt x="5492750" y="115061"/>
                  </a:cubicBezTo>
                  <a:lnTo>
                    <a:pt x="5492750" y="619017"/>
                  </a:lnTo>
                  <a:cubicBezTo>
                    <a:pt x="5492750" y="682526"/>
                    <a:pt x="5426075" y="734104"/>
                    <a:pt x="5343652" y="734104"/>
                  </a:cubicBezTo>
                  <a:lnTo>
                    <a:pt x="149098" y="734104"/>
                  </a:lnTo>
                  <a:cubicBezTo>
                    <a:pt x="66675" y="733980"/>
                    <a:pt x="0" y="682526"/>
                    <a:pt x="0" y="619017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5492750" cy="838765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메뉴 판매량 · 레시피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0738" y="5474715"/>
            <a:ext cx="4320075" cy="577287"/>
            <a:chOff x="0" y="0"/>
            <a:chExt cx="5492750" cy="733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92750" cy="734104"/>
            </a:xfrm>
            <a:custGeom>
              <a:avLst/>
              <a:gdLst/>
              <a:ahLst/>
              <a:cxnLst/>
              <a:rect r="r" b="b" t="t" l="l"/>
              <a:pathLst>
                <a:path h="734104" w="5492750">
                  <a:moveTo>
                    <a:pt x="0" y="115061"/>
                  </a:moveTo>
                  <a:cubicBezTo>
                    <a:pt x="0" y="51454"/>
                    <a:pt x="66675" y="0"/>
                    <a:pt x="149098" y="0"/>
                  </a:cubicBezTo>
                  <a:lnTo>
                    <a:pt x="5343652" y="0"/>
                  </a:lnTo>
                  <a:cubicBezTo>
                    <a:pt x="5425948" y="0"/>
                    <a:pt x="5492750" y="51454"/>
                    <a:pt x="5492750" y="115061"/>
                  </a:cubicBezTo>
                  <a:lnTo>
                    <a:pt x="5492750" y="619017"/>
                  </a:lnTo>
                  <a:cubicBezTo>
                    <a:pt x="5492750" y="682526"/>
                    <a:pt x="5426075" y="734104"/>
                    <a:pt x="5343652" y="734104"/>
                  </a:cubicBezTo>
                  <a:lnTo>
                    <a:pt x="149098" y="734104"/>
                  </a:lnTo>
                  <a:cubicBezTo>
                    <a:pt x="66675" y="733980"/>
                    <a:pt x="0" y="682526"/>
                    <a:pt x="0" y="619017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5492750" cy="838765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외부 요인 · 공휴일, 행사, 날씨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0738" y="6357618"/>
            <a:ext cx="4320075" cy="577287"/>
            <a:chOff x="0" y="0"/>
            <a:chExt cx="5492750" cy="733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92750" cy="734104"/>
            </a:xfrm>
            <a:custGeom>
              <a:avLst/>
              <a:gdLst/>
              <a:ahLst/>
              <a:cxnLst/>
              <a:rect r="r" b="b" t="t" l="l"/>
              <a:pathLst>
                <a:path h="734104" w="5492750">
                  <a:moveTo>
                    <a:pt x="0" y="115061"/>
                  </a:moveTo>
                  <a:cubicBezTo>
                    <a:pt x="0" y="51454"/>
                    <a:pt x="66675" y="0"/>
                    <a:pt x="149098" y="0"/>
                  </a:cubicBezTo>
                  <a:lnTo>
                    <a:pt x="5343652" y="0"/>
                  </a:lnTo>
                  <a:cubicBezTo>
                    <a:pt x="5425948" y="0"/>
                    <a:pt x="5492750" y="51454"/>
                    <a:pt x="5492750" y="115061"/>
                  </a:cubicBezTo>
                  <a:lnTo>
                    <a:pt x="5492750" y="619017"/>
                  </a:lnTo>
                  <a:cubicBezTo>
                    <a:pt x="5492750" y="682526"/>
                    <a:pt x="5426075" y="734104"/>
                    <a:pt x="5343652" y="734104"/>
                  </a:cubicBezTo>
                  <a:lnTo>
                    <a:pt x="149098" y="734104"/>
                  </a:lnTo>
                  <a:cubicBezTo>
                    <a:pt x="66675" y="733980"/>
                    <a:pt x="0" y="682526"/>
                    <a:pt x="0" y="619017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5492750" cy="838765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공공 시세 · 도매시장, KAMIS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0738" y="7240512"/>
            <a:ext cx="4320075" cy="577287"/>
            <a:chOff x="0" y="0"/>
            <a:chExt cx="5492750" cy="7339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2750" cy="734104"/>
            </a:xfrm>
            <a:custGeom>
              <a:avLst/>
              <a:gdLst/>
              <a:ahLst/>
              <a:cxnLst/>
              <a:rect r="r" b="b" t="t" l="l"/>
              <a:pathLst>
                <a:path h="734104" w="5492750">
                  <a:moveTo>
                    <a:pt x="0" y="115061"/>
                  </a:moveTo>
                  <a:cubicBezTo>
                    <a:pt x="0" y="51454"/>
                    <a:pt x="66675" y="0"/>
                    <a:pt x="149098" y="0"/>
                  </a:cubicBezTo>
                  <a:lnTo>
                    <a:pt x="5343652" y="0"/>
                  </a:lnTo>
                  <a:cubicBezTo>
                    <a:pt x="5425948" y="0"/>
                    <a:pt x="5492750" y="51454"/>
                    <a:pt x="5492750" y="115061"/>
                  </a:cubicBezTo>
                  <a:lnTo>
                    <a:pt x="5492750" y="619017"/>
                  </a:lnTo>
                  <a:cubicBezTo>
                    <a:pt x="5492750" y="682526"/>
                    <a:pt x="5426075" y="734104"/>
                    <a:pt x="5343652" y="734104"/>
                  </a:cubicBezTo>
                  <a:lnTo>
                    <a:pt x="149098" y="734104"/>
                  </a:lnTo>
                  <a:cubicBezTo>
                    <a:pt x="66675" y="733980"/>
                    <a:pt x="0" y="682526"/>
                    <a:pt x="0" y="619017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5492750" cy="838765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판매가 표본 · 식봄, 식자재마트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78043" y="5898278"/>
            <a:ext cx="958907" cy="479453"/>
            <a:chOff x="0" y="0"/>
            <a:chExt cx="1219200" cy="609600"/>
          </a:xfrm>
        </p:grpSpPr>
        <p:sp>
          <p:nvSpPr>
            <p:cNvPr name="Freeform 18" id="18" descr="arrow-right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76677" y="4591821"/>
            <a:ext cx="5114170" cy="3170446"/>
            <a:chOff x="0" y="0"/>
            <a:chExt cx="6502400" cy="40310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02400" cy="4031045"/>
            </a:xfrm>
            <a:custGeom>
              <a:avLst/>
              <a:gdLst/>
              <a:ahLst/>
              <a:cxnLst/>
              <a:rect r="r" b="b" t="t" l="l"/>
              <a:pathLst>
                <a:path h="4031045" w="6502400">
                  <a:moveTo>
                    <a:pt x="0" y="233589"/>
                  </a:moveTo>
                  <a:cubicBezTo>
                    <a:pt x="0" y="104531"/>
                    <a:pt x="113665" y="0"/>
                    <a:pt x="254000" y="0"/>
                  </a:cubicBezTo>
                  <a:lnTo>
                    <a:pt x="6248400" y="0"/>
                  </a:lnTo>
                  <a:cubicBezTo>
                    <a:pt x="6388735" y="0"/>
                    <a:pt x="6502400" y="104531"/>
                    <a:pt x="6502400" y="233589"/>
                  </a:cubicBezTo>
                  <a:lnTo>
                    <a:pt x="6502400" y="3797456"/>
                  </a:lnTo>
                  <a:cubicBezTo>
                    <a:pt x="6502400" y="3926513"/>
                    <a:pt x="6388735" y="4031045"/>
                    <a:pt x="6248400" y="4031045"/>
                  </a:cubicBezTo>
                  <a:lnTo>
                    <a:pt x="254000" y="4031045"/>
                  </a:lnTo>
                  <a:cubicBezTo>
                    <a:pt x="113665" y="4031045"/>
                    <a:pt x="0" y="3926513"/>
                    <a:pt x="0" y="3797456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171633" y="3502754"/>
            <a:ext cx="2132505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</a:pPr>
            <a:r>
              <a:rPr lang="en-US" b="true" sz="32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분석 엔진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28865" y="4936243"/>
            <a:ext cx="4444533" cy="56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2902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①  메뉴 수요 예측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28865" y="5507461"/>
            <a:ext cx="4444533" cy="56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2902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②  레시피로 식자재 환산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28865" y="6078690"/>
            <a:ext cx="4444533" cy="56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2902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③  품목별 발주량 추천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28865" y="6649909"/>
            <a:ext cx="4444533" cy="56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2902">
                <a:solidFill>
                  <a:srgbClr val="F6F4EE"/>
                </a:solidFill>
                <a:latin typeface="Noto Sans"/>
                <a:ea typeface="Noto Sans"/>
                <a:cs typeface="Noto Sans"/>
                <a:sym typeface="Noto Sans"/>
              </a:rPr>
              <a:t>④  시세 격차 · 원가율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30573" y="5831603"/>
            <a:ext cx="958907" cy="479453"/>
            <a:chOff x="0" y="0"/>
            <a:chExt cx="1219200" cy="609600"/>
          </a:xfrm>
        </p:grpSpPr>
        <p:sp>
          <p:nvSpPr>
            <p:cNvPr name="Freeform 27" id="27" descr="arrow-right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666588" y="3502754"/>
            <a:ext cx="1442424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output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229207" y="4338870"/>
            <a:ext cx="4315081" cy="1053537"/>
            <a:chOff x="0" y="0"/>
            <a:chExt cx="5486400" cy="13395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1339464"/>
            </a:xfrm>
            <a:custGeom>
              <a:avLst/>
              <a:gdLst/>
              <a:ahLst/>
              <a:cxnLst/>
              <a:rect r="r" b="b" t="t" l="l"/>
              <a:pathLst>
                <a:path h="1339464" w="5486400">
                  <a:moveTo>
                    <a:pt x="0" y="127194"/>
                  </a:moveTo>
                  <a:cubicBezTo>
                    <a:pt x="0" y="56920"/>
                    <a:pt x="68199" y="0"/>
                    <a:pt x="152400" y="0"/>
                  </a:cubicBezTo>
                  <a:lnTo>
                    <a:pt x="5334000" y="0"/>
                  </a:lnTo>
                  <a:cubicBezTo>
                    <a:pt x="5418201" y="0"/>
                    <a:pt x="5486400" y="56920"/>
                    <a:pt x="5486400" y="127194"/>
                  </a:cubicBezTo>
                  <a:lnTo>
                    <a:pt x="5486400" y="1212270"/>
                  </a:lnTo>
                  <a:cubicBezTo>
                    <a:pt x="5486400" y="1282544"/>
                    <a:pt x="5418201" y="1339464"/>
                    <a:pt x="5334000" y="1339464"/>
                  </a:cubicBezTo>
                  <a:lnTo>
                    <a:pt x="152400" y="1339464"/>
                  </a:lnTo>
                  <a:cubicBezTo>
                    <a:pt x="68199" y="1339464"/>
                    <a:pt x="0" y="1282544"/>
                    <a:pt x="0" y="1212270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5486400" cy="1444292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1"/>
                </a:lnSpc>
              </a:pPr>
              <a:r>
                <a:rPr lang="en-US" b="true" sz="2399">
                  <a:solidFill>
                    <a:srgbClr val="1E2A2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얼마나 살까</a:t>
              </a:r>
            </a:p>
            <a:p>
              <a:pPr algn="ctr">
                <a:lnSpc>
                  <a:spcPts val="4031"/>
                </a:lnSpc>
              </a:pPr>
              <a:r>
                <a:rPr lang="en-US" b="true" sz="2399">
                  <a:solidFill>
                    <a:srgbClr val="2F7D5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메뉴별 예측 · 발주량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29207" y="5579336"/>
            <a:ext cx="4315081" cy="1053537"/>
            <a:chOff x="0" y="0"/>
            <a:chExt cx="5486400" cy="13395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339464"/>
            </a:xfrm>
            <a:custGeom>
              <a:avLst/>
              <a:gdLst/>
              <a:ahLst/>
              <a:cxnLst/>
              <a:rect r="r" b="b" t="t" l="l"/>
              <a:pathLst>
                <a:path h="1339464" w="5486400">
                  <a:moveTo>
                    <a:pt x="0" y="127194"/>
                  </a:moveTo>
                  <a:cubicBezTo>
                    <a:pt x="0" y="56920"/>
                    <a:pt x="68199" y="0"/>
                    <a:pt x="152400" y="0"/>
                  </a:cubicBezTo>
                  <a:lnTo>
                    <a:pt x="5334000" y="0"/>
                  </a:lnTo>
                  <a:cubicBezTo>
                    <a:pt x="5418201" y="0"/>
                    <a:pt x="5486400" y="56920"/>
                    <a:pt x="5486400" y="127194"/>
                  </a:cubicBezTo>
                  <a:lnTo>
                    <a:pt x="5486400" y="1212270"/>
                  </a:lnTo>
                  <a:cubicBezTo>
                    <a:pt x="5486400" y="1282544"/>
                    <a:pt x="5418201" y="1339464"/>
                    <a:pt x="5334000" y="1339464"/>
                  </a:cubicBezTo>
                  <a:lnTo>
                    <a:pt x="152400" y="1339464"/>
                  </a:lnTo>
                  <a:cubicBezTo>
                    <a:pt x="68199" y="1339464"/>
                    <a:pt x="0" y="1282544"/>
                    <a:pt x="0" y="1212270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5486400" cy="1444292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1"/>
                </a:lnSpc>
              </a:pPr>
              <a:r>
                <a:rPr lang="en-US" b="true" sz="2399">
                  <a:solidFill>
                    <a:srgbClr val="1E2A2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언제 살까</a:t>
              </a:r>
            </a:p>
            <a:p>
              <a:pPr algn="ctr">
                <a:lnSpc>
                  <a:spcPts val="4031"/>
                </a:lnSpc>
              </a:pPr>
              <a:r>
                <a:rPr lang="en-US" b="true" sz="2399">
                  <a:solidFill>
                    <a:srgbClr val="2F7D5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원가율 · 가격 알림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29207" y="6883479"/>
            <a:ext cx="4315081" cy="1053537"/>
            <a:chOff x="0" y="0"/>
            <a:chExt cx="5486400" cy="13395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1339464"/>
            </a:xfrm>
            <a:custGeom>
              <a:avLst/>
              <a:gdLst/>
              <a:ahLst/>
              <a:cxnLst/>
              <a:rect r="r" b="b" t="t" l="l"/>
              <a:pathLst>
                <a:path h="1339464" w="5486400">
                  <a:moveTo>
                    <a:pt x="0" y="127194"/>
                  </a:moveTo>
                  <a:cubicBezTo>
                    <a:pt x="0" y="56920"/>
                    <a:pt x="68199" y="0"/>
                    <a:pt x="152400" y="0"/>
                  </a:cubicBezTo>
                  <a:lnTo>
                    <a:pt x="5334000" y="0"/>
                  </a:lnTo>
                  <a:cubicBezTo>
                    <a:pt x="5418201" y="0"/>
                    <a:pt x="5486400" y="56920"/>
                    <a:pt x="5486400" y="127194"/>
                  </a:cubicBezTo>
                  <a:lnTo>
                    <a:pt x="5486400" y="1212270"/>
                  </a:lnTo>
                  <a:cubicBezTo>
                    <a:pt x="5486400" y="1282544"/>
                    <a:pt x="5418201" y="1339464"/>
                    <a:pt x="5334000" y="1339464"/>
                  </a:cubicBezTo>
                  <a:lnTo>
                    <a:pt x="152400" y="1339464"/>
                  </a:lnTo>
                  <a:cubicBezTo>
                    <a:pt x="68199" y="1339464"/>
                    <a:pt x="0" y="1282544"/>
                    <a:pt x="0" y="1212270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5486400" cy="1444292"/>
            </a:xfrm>
            <a:prstGeom prst="rect">
              <a:avLst/>
            </a:prstGeom>
          </p:spPr>
          <p:txBody>
            <a:bodyPr anchor="t" rtlCol="false" tIns="53273" lIns="53273" bIns="53273" rIns="53273"/>
            <a:lstStyle/>
            <a:p>
              <a:pPr algn="ctr">
                <a:lnSpc>
                  <a:spcPts val="4031"/>
                </a:lnSpc>
              </a:pPr>
              <a:r>
                <a:rPr lang="en-US" b="true" sz="2399">
                  <a:solidFill>
                    <a:srgbClr val="1E2A2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어디서 살까</a:t>
              </a:r>
            </a:p>
            <a:p>
              <a:pPr algn="ctr">
                <a:lnSpc>
                  <a:spcPts val="4031"/>
                </a:lnSpc>
              </a:pPr>
              <a:r>
                <a:rPr lang="en-US" b="true" sz="2399">
                  <a:solidFill>
                    <a:srgbClr val="2F7D5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실질 단가 · 식봄 검색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63449" y="2842742"/>
            <a:ext cx="12380839" cy="5361027"/>
            <a:chOff x="0" y="0"/>
            <a:chExt cx="15290800" cy="6621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90800" cy="6621145"/>
            </a:xfrm>
            <a:custGeom>
              <a:avLst/>
              <a:gdLst/>
              <a:ahLst/>
              <a:cxnLst/>
              <a:rect r="r" b="b" t="t" l="l"/>
              <a:pathLst>
                <a:path h="6621145" w="152908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5036800" y="0"/>
                  </a:lnTo>
                  <a:cubicBezTo>
                    <a:pt x="15177136" y="0"/>
                    <a:pt x="15290800" y="113665"/>
                    <a:pt x="15290800" y="254000"/>
                  </a:cubicBezTo>
                  <a:lnTo>
                    <a:pt x="15290800" y="6367145"/>
                  </a:lnTo>
                  <a:cubicBezTo>
                    <a:pt x="15290800" y="6507480"/>
                    <a:pt x="15177136" y="6621145"/>
                    <a:pt x="15036800" y="6621145"/>
                  </a:cubicBezTo>
                  <a:lnTo>
                    <a:pt x="254000" y="6621145"/>
                  </a:lnTo>
                  <a:cubicBezTo>
                    <a:pt x="113665" y="6621145"/>
                    <a:pt x="0" y="6507480"/>
                    <a:pt x="0" y="6367145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5482223" y="3698196"/>
            <a:ext cx="11743290" cy="20496"/>
          </a:xfrm>
          <a:prstGeom prst="line">
            <a:avLst/>
          </a:prstGeom>
          <a:ln cap="rnd" w="9525">
            <a:solidFill>
              <a:srgbClr val="0F2B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492508" y="4759252"/>
            <a:ext cx="4318897" cy="123397"/>
            <a:chOff x="0" y="0"/>
            <a:chExt cx="5334000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5334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5257800" y="0"/>
                  </a:lnTo>
                  <a:cubicBezTo>
                    <a:pt x="5299837" y="0"/>
                    <a:pt x="5334000" y="34163"/>
                    <a:pt x="5334000" y="76200"/>
                  </a:cubicBezTo>
                  <a:cubicBezTo>
                    <a:pt x="5334000" y="118237"/>
                    <a:pt x="5299837" y="152400"/>
                    <a:pt x="5257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483169" y="4858929"/>
            <a:ext cx="1059014" cy="46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88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제육볶음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483169" y="5320255"/>
            <a:ext cx="2797554" cy="119895"/>
            <a:chOff x="0" y="0"/>
            <a:chExt cx="3556000" cy="15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152400"/>
            </a:xfrm>
            <a:custGeom>
              <a:avLst/>
              <a:gdLst/>
              <a:ahLst/>
              <a:cxnLst/>
              <a:rect r="r" b="b" t="t" l="l"/>
              <a:pathLst>
                <a:path h="152400" w="3556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479800" y="0"/>
                  </a:lnTo>
                  <a:cubicBezTo>
                    <a:pt x="3521837" y="0"/>
                    <a:pt x="3556000" y="34163"/>
                    <a:pt x="3556000" y="76200"/>
                  </a:cubicBezTo>
                  <a:cubicBezTo>
                    <a:pt x="3556000" y="118237"/>
                    <a:pt x="3521837" y="152400"/>
                    <a:pt x="3479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3169" y="5935657"/>
            <a:ext cx="2098165" cy="119895"/>
            <a:chOff x="0" y="0"/>
            <a:chExt cx="2667000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sp>
        <p:nvSpPr>
          <p:cNvPr name="AutoShape 12" id="12"/>
          <p:cNvSpPr/>
          <p:nvPr/>
        </p:nvSpPr>
        <p:spPr>
          <a:xfrm>
            <a:off x="11469553" y="4797794"/>
            <a:ext cx="5753388" cy="15464"/>
          </a:xfrm>
          <a:prstGeom prst="line">
            <a:avLst/>
          </a:prstGeom>
          <a:ln cap="rnd" w="9525">
            <a:solidFill>
              <a:srgbClr val="E2DD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469553" y="5359179"/>
            <a:ext cx="5753388" cy="15464"/>
          </a:xfrm>
          <a:prstGeom prst="line">
            <a:avLst/>
          </a:prstGeom>
          <a:ln cap="rnd" w="9525">
            <a:solidFill>
              <a:srgbClr val="E2DD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469553" y="5920574"/>
            <a:ext cx="5753388" cy="15464"/>
          </a:xfrm>
          <a:prstGeom prst="line">
            <a:avLst/>
          </a:prstGeom>
          <a:ln cap="rnd" w="9525">
            <a:solidFill>
              <a:srgbClr val="E2DD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492508" y="6587390"/>
            <a:ext cx="11722722" cy="1287319"/>
            <a:chOff x="0" y="0"/>
            <a:chExt cx="14478000" cy="1589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78000" cy="1589913"/>
            </a:xfrm>
            <a:custGeom>
              <a:avLst/>
              <a:gdLst/>
              <a:ahLst/>
              <a:cxnLst/>
              <a:rect r="r" b="b" t="t" l="l"/>
              <a:pathLst>
                <a:path h="1589913" w="14478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4300200" y="0"/>
                  </a:lnTo>
                  <a:cubicBezTo>
                    <a:pt x="14398371" y="0"/>
                    <a:pt x="14478000" y="79629"/>
                    <a:pt x="14478000" y="177800"/>
                  </a:cubicBezTo>
                  <a:lnTo>
                    <a:pt x="14478000" y="1412113"/>
                  </a:lnTo>
                  <a:cubicBezTo>
                    <a:pt x="14478000" y="1510284"/>
                    <a:pt x="14398371" y="1589913"/>
                    <a:pt x="14300200" y="1589913"/>
                  </a:cubicBezTo>
                  <a:lnTo>
                    <a:pt x="177800" y="1589913"/>
                  </a:lnTo>
                  <a:cubicBezTo>
                    <a:pt x="79629" y="1589913"/>
                    <a:pt x="0" y="1510284"/>
                    <a:pt x="0" y="1412113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722960" y="7116495"/>
            <a:ext cx="1977331" cy="415577"/>
            <a:chOff x="0" y="0"/>
            <a:chExt cx="2513406" cy="5282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13457" cy="528320"/>
            </a:xfrm>
            <a:custGeom>
              <a:avLst/>
              <a:gdLst/>
              <a:ahLst/>
              <a:cxnLst/>
              <a:rect r="r" b="b" t="t" l="l"/>
              <a:pathLst>
                <a:path h="528320" w="2513457">
                  <a:moveTo>
                    <a:pt x="264160" y="0"/>
                  </a:moveTo>
                  <a:lnTo>
                    <a:pt x="2249297" y="0"/>
                  </a:lnTo>
                  <a:cubicBezTo>
                    <a:pt x="2319401" y="0"/>
                    <a:pt x="2386584" y="27813"/>
                    <a:pt x="2436114" y="77343"/>
                  </a:cubicBezTo>
                  <a:cubicBezTo>
                    <a:pt x="2485644" y="126873"/>
                    <a:pt x="2513457" y="194056"/>
                    <a:pt x="2513457" y="264160"/>
                  </a:cubicBezTo>
                  <a:cubicBezTo>
                    <a:pt x="2513457" y="410083"/>
                    <a:pt x="2395220" y="528320"/>
                    <a:pt x="2249297" y="528320"/>
                  </a:cubicBezTo>
                  <a:lnTo>
                    <a:pt x="264160" y="528320"/>
                  </a:lnTo>
                  <a:cubicBezTo>
                    <a:pt x="118237" y="528193"/>
                    <a:pt x="0" y="409956"/>
                    <a:pt x="0" y="264160"/>
                  </a:cubicBezTo>
                  <a:cubicBezTo>
                    <a:pt x="0" y="118364"/>
                    <a:pt x="118237" y="0"/>
                    <a:pt x="264160" y="0"/>
                  </a:cubicBezTo>
                  <a:close/>
                </a:path>
              </a:pathLst>
            </a:custGeom>
            <a:solidFill>
              <a:srgbClr val="F2A06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513406" cy="604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0F2B26"/>
                  </a:solidFill>
                  <a:latin typeface="Noto Sans"/>
                  <a:ea typeface="Noto Sans"/>
                  <a:cs typeface="Noto Sans"/>
                  <a:sym typeface="Noto Sans"/>
                </a:rPr>
                <a:t>금요일 효과 38%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20186" y="7116495"/>
            <a:ext cx="1536157" cy="415577"/>
            <a:chOff x="0" y="0"/>
            <a:chExt cx="1952625" cy="528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2625" cy="528320"/>
            </a:xfrm>
            <a:custGeom>
              <a:avLst/>
              <a:gdLst/>
              <a:ahLst/>
              <a:cxnLst/>
              <a:rect r="r" b="b" t="t" l="l"/>
              <a:pathLst>
                <a:path h="528320" w="1952625">
                  <a:moveTo>
                    <a:pt x="264160" y="0"/>
                  </a:moveTo>
                  <a:lnTo>
                    <a:pt x="1688465" y="0"/>
                  </a:lnTo>
                  <a:cubicBezTo>
                    <a:pt x="1758569" y="0"/>
                    <a:pt x="1825752" y="27813"/>
                    <a:pt x="1875282" y="77343"/>
                  </a:cubicBezTo>
                  <a:cubicBezTo>
                    <a:pt x="1924812" y="126873"/>
                    <a:pt x="1952625" y="194056"/>
                    <a:pt x="1952625" y="264160"/>
                  </a:cubicBezTo>
                  <a:cubicBezTo>
                    <a:pt x="1952625" y="410083"/>
                    <a:pt x="1834388" y="528320"/>
                    <a:pt x="1688465" y="528320"/>
                  </a:cubicBezTo>
                  <a:lnTo>
                    <a:pt x="264160" y="528320"/>
                  </a:lnTo>
                  <a:cubicBezTo>
                    <a:pt x="118237" y="528193"/>
                    <a:pt x="0" y="409956"/>
                    <a:pt x="0" y="264160"/>
                  </a:cubicBezTo>
                  <a:cubicBezTo>
                    <a:pt x="0" y="118364"/>
                    <a:pt x="118237" y="0"/>
                    <a:pt x="264160" y="0"/>
                  </a:cubicBezTo>
                  <a:close/>
                </a:path>
              </a:pathLst>
            </a:custGeom>
            <a:solidFill>
              <a:srgbClr val="F2A06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952625" cy="604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0F2B26"/>
                  </a:solidFill>
                  <a:latin typeface="Noto Sans"/>
                  <a:ea typeface="Noto Sans"/>
                  <a:cs typeface="Noto Sans"/>
                  <a:sym typeface="Noto Sans"/>
                </a:rPr>
                <a:t>비 예보 26%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2206" y="7241323"/>
            <a:ext cx="2227255" cy="427715"/>
            <a:chOff x="0" y="0"/>
            <a:chExt cx="2750744" cy="5282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50820" cy="528320"/>
            </a:xfrm>
            <a:custGeom>
              <a:avLst/>
              <a:gdLst/>
              <a:ahLst/>
              <a:cxnLst/>
              <a:rect r="r" b="b" t="t" l="l"/>
              <a:pathLst>
                <a:path h="528320" w="2750820">
                  <a:moveTo>
                    <a:pt x="264160" y="0"/>
                  </a:moveTo>
                  <a:lnTo>
                    <a:pt x="2486660" y="0"/>
                  </a:lnTo>
                  <a:cubicBezTo>
                    <a:pt x="2556764" y="0"/>
                    <a:pt x="2623947" y="27813"/>
                    <a:pt x="2673477" y="77343"/>
                  </a:cubicBezTo>
                  <a:cubicBezTo>
                    <a:pt x="2723007" y="126873"/>
                    <a:pt x="2750820" y="194056"/>
                    <a:pt x="2750820" y="264160"/>
                  </a:cubicBezTo>
                  <a:cubicBezTo>
                    <a:pt x="2750820" y="410083"/>
                    <a:pt x="2632583" y="528320"/>
                    <a:pt x="2486660" y="528320"/>
                  </a:cubicBezTo>
                  <a:lnTo>
                    <a:pt x="264160" y="528320"/>
                  </a:lnTo>
                  <a:cubicBezTo>
                    <a:pt x="118237" y="528193"/>
                    <a:pt x="0" y="409956"/>
                    <a:pt x="0" y="264160"/>
                  </a:cubicBezTo>
                  <a:cubicBezTo>
                    <a:pt x="0" y="118364"/>
                    <a:pt x="118237" y="0"/>
                    <a:pt x="264160" y="0"/>
                  </a:cubicBezTo>
                  <a:close/>
                </a:path>
              </a:pathLst>
            </a:custGeom>
            <a:solidFill>
              <a:srgbClr val="C9D8D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2750744" cy="604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0F2B26"/>
                  </a:solidFill>
                  <a:latin typeface="Noto Sans"/>
                  <a:ea typeface="Noto Sans"/>
                  <a:cs typeface="Noto Sans"/>
                  <a:sym typeface="Noto Sans"/>
                </a:rPr>
                <a:t>최근 2주 추세 20%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52858" y="7241323"/>
            <a:ext cx="2509074" cy="427715"/>
            <a:chOff x="0" y="0"/>
            <a:chExt cx="3098800" cy="5282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98800" cy="528320"/>
            </a:xfrm>
            <a:custGeom>
              <a:avLst/>
              <a:gdLst/>
              <a:ahLst/>
              <a:cxnLst/>
              <a:rect r="r" b="b" t="t" l="l"/>
              <a:pathLst>
                <a:path h="528320" w="3098800">
                  <a:moveTo>
                    <a:pt x="264160" y="0"/>
                  </a:moveTo>
                  <a:lnTo>
                    <a:pt x="2834640" y="0"/>
                  </a:lnTo>
                  <a:cubicBezTo>
                    <a:pt x="2904744" y="0"/>
                    <a:pt x="2971927" y="27813"/>
                    <a:pt x="3021457" y="77343"/>
                  </a:cubicBezTo>
                  <a:cubicBezTo>
                    <a:pt x="3070987" y="126873"/>
                    <a:pt x="3098800" y="194056"/>
                    <a:pt x="3098800" y="264160"/>
                  </a:cubicBezTo>
                  <a:cubicBezTo>
                    <a:pt x="3098800" y="410083"/>
                    <a:pt x="2980563" y="528320"/>
                    <a:pt x="2834640" y="528320"/>
                  </a:cubicBezTo>
                  <a:lnTo>
                    <a:pt x="264160" y="528320"/>
                  </a:lnTo>
                  <a:cubicBezTo>
                    <a:pt x="118237" y="528193"/>
                    <a:pt x="0" y="409956"/>
                    <a:pt x="0" y="264160"/>
                  </a:cubicBezTo>
                  <a:cubicBezTo>
                    <a:pt x="0" y="118364"/>
                    <a:pt x="118237" y="0"/>
                    <a:pt x="264160" y="0"/>
                  </a:cubicBezTo>
                  <a:close/>
                </a:path>
              </a:pathLst>
            </a:custGeom>
            <a:solidFill>
              <a:srgbClr val="C9D8D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3098800" cy="604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0F2B26"/>
                  </a:solidFill>
                  <a:latin typeface="Noto Sans"/>
                  <a:ea typeface="Noto Sans"/>
                  <a:cs typeface="Noto Sans"/>
                  <a:sym typeface="Noto Sans"/>
                </a:rPr>
                <a:t>필요 18kg − 재고 6kg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19200" y="11430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05-1 · 결과물 예시 (화면 시안 · 가상 수치)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1615383"/>
            <a:ext cx="16325088" cy="66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사장님이 매일 아침 보는 한 화면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3169" y="3057687"/>
            <a:ext cx="3479957" cy="53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b="true" sz="220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Fresh Insight 대시보드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55120" y="3105302"/>
            <a:ext cx="2560109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sz="194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대구 ○○식당 (가상)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92508" y="3808573"/>
            <a:ext cx="5910103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메뉴별 내일 예측 (예상 범위)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83169" y="4243527"/>
            <a:ext cx="1059014" cy="46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88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김치찌개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66600" y="4277420"/>
            <a:ext cx="1863872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120 (95~148)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41474" y="4910796"/>
            <a:ext cx="1688997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 (62~101)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83169" y="5474321"/>
            <a:ext cx="1059014" cy="46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88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된장찌개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16153" y="5544163"/>
            <a:ext cx="1514319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60 (45~77)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77265" y="3808573"/>
            <a:ext cx="5910103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양파(국산) kg당 가격 비교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77265" y="4318552"/>
            <a:ext cx="1701142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194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도매시장 시세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382875" y="4318552"/>
            <a:ext cx="832354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[__원]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77265" y="4879947"/>
            <a:ext cx="1362386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194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식자재마트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382875" y="4879947"/>
            <a:ext cx="832354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[__원]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77265" y="5441332"/>
            <a:ext cx="2240233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194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식봄 (배송비 포함)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382875" y="5441332"/>
            <a:ext cx="832354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4"/>
              </a:lnSpc>
            </a:pPr>
            <a:r>
              <a:rPr lang="en-US" b="true" sz="194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[__원]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77265" y="5961594"/>
            <a:ext cx="5910103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1943">
                <a:solidFill>
                  <a:srgbClr val="9A3C12"/>
                </a:solidFill>
                <a:latin typeface="Noto Sans"/>
                <a:ea typeface="Noto Sans"/>
                <a:cs typeface="Noto Sans"/>
                <a:sym typeface="Noto Sans"/>
              </a:rPr>
              <a:t>시세 대비 차이가 평소보다 크면 ‘기다리기’ 알림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39302" y="6697802"/>
            <a:ext cx="11566007" cy="4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b="true" sz="1943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왜 돼지고기 12kg인가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843" y="1445391"/>
            <a:ext cx="14031456" cy="106677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① · 가격 모니터링 및 원가 분석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시세와 실제 판매가의 ‘차이’를 품목별로 보여준다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8725" y="2934000"/>
            <a:ext cx="7637540" cy="162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2749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모으기 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대구 공영도매시장 경락가격·거래량, KAMIS 가격정보,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식자재마트·정육점·온라인몰 판매가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690618"/>
            <a:ext cx="7495413" cy="110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2749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비교하기</a:t>
            </a:r>
            <a:r>
              <a:rPr lang="en-US" sz="27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같은 원산지·형태·규격끼리 도매시장 시세, 판매가를 비교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5850201"/>
            <a:ext cx="7495413" cy="110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2749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따로 보기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수입 의존 품목은 실구매가 추이만 추적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7200847"/>
            <a:ext cx="7495413" cy="110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2749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보여주기</a:t>
            </a:r>
            <a:r>
              <a:rPr lang="en-US" sz="27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품목별 가격 추이 대시보드, 급등 품목 알림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66265" y="3611985"/>
            <a:ext cx="8191500" cy="3710730"/>
            <a:chOff x="0" y="0"/>
            <a:chExt cx="10922000" cy="49476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2000" cy="4947666"/>
            </a:xfrm>
            <a:custGeom>
              <a:avLst/>
              <a:gdLst/>
              <a:ahLst/>
              <a:cxnLst/>
              <a:rect r="r" b="b" t="t" l="l"/>
              <a:pathLst>
                <a:path h="4947666" w="1092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668000" y="0"/>
                  </a:lnTo>
                  <a:cubicBezTo>
                    <a:pt x="10808335" y="0"/>
                    <a:pt x="10922000" y="113665"/>
                    <a:pt x="10922000" y="254000"/>
                  </a:cubicBezTo>
                  <a:lnTo>
                    <a:pt x="10922000" y="4693666"/>
                  </a:lnTo>
                  <a:cubicBezTo>
                    <a:pt x="10922000" y="4834001"/>
                    <a:pt x="10808335" y="4947666"/>
                    <a:pt x="10668000" y="4947666"/>
                  </a:cubicBezTo>
                  <a:lnTo>
                    <a:pt x="254000" y="4947666"/>
                  </a:lnTo>
                  <a:cubicBezTo>
                    <a:pt x="113665" y="4947666"/>
                    <a:pt x="0" y="4834001"/>
                    <a:pt x="0" y="4693666"/>
                  </a:cubicBezTo>
                  <a:close/>
                </a:path>
              </a:pathLst>
            </a:custGeom>
            <a:solidFill>
              <a:srgbClr val="0F2B26">
                <a:alpha val="87843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436371" y="4009370"/>
            <a:ext cx="5211826" cy="68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b="true" sz="3499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사장님이 알 수 있게 되는 것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1744" y="5175441"/>
            <a:ext cx="7321079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0"/>
              </a:lnSpc>
            </a:pPr>
            <a:r>
              <a:rPr lang="en-US" b="true" sz="255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“지금 사는 양파가 도매시장 시세보다 얼마나 비싼가?”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81901" y="5841185"/>
            <a:ext cx="6560230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0"/>
              </a:lnSpc>
            </a:pPr>
            <a:r>
              <a:rPr lang="en-US" b="true" sz="255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“이 품목은 요즘 오르는 중인가, 내리는 중인가?”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03065" y="3135759"/>
            <a:ext cx="8649214" cy="4815981"/>
          </a:xfrm>
          <a:custGeom>
            <a:avLst/>
            <a:gdLst/>
            <a:ahLst/>
            <a:cxnLst/>
            <a:rect r="r" b="b" t="t" l="l"/>
            <a:pathLst>
              <a:path h="4815981" w="8649214">
                <a:moveTo>
                  <a:pt x="0" y="0"/>
                </a:moveTo>
                <a:lnTo>
                  <a:pt x="8649214" y="0"/>
                </a:lnTo>
                <a:lnTo>
                  <a:pt x="8649214" y="4815981"/>
                </a:lnTo>
                <a:lnTo>
                  <a:pt x="0" y="4815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①+ · 메뉴 원가율 알림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1586808"/>
            <a:ext cx="8188643" cy="83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식자재 시세를 ‘메뉴 원가’로 번역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11778" y="3711077"/>
            <a:ext cx="2232356" cy="62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8"/>
              </a:lnSpc>
            </a:pPr>
            <a:r>
              <a:rPr lang="en-US" b="true" sz="3153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하고 싶은 것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5157" y="4550659"/>
            <a:ext cx="6827786" cy="11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710" indent="-272355" lvl="1">
              <a:lnSpc>
                <a:spcPts val="4541"/>
              </a:lnSpc>
              <a:buAutoNum type="arabicPeriod" startAt="1"/>
            </a:pPr>
            <a:r>
              <a:rPr lang="en-US" b="true" sz="2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메뉴별 레시피에 오늘의 식자재 가격을 적용, </a:t>
            </a:r>
          </a:p>
          <a:p>
            <a:pPr algn="l">
              <a:lnSpc>
                <a:spcPts val="4541"/>
              </a:lnSpc>
            </a:pPr>
            <a:r>
              <a:rPr lang="en-US" b="true" sz="2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</a:t>
            </a:r>
            <a:r>
              <a:rPr lang="en-US" b="true" sz="2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메뉴 한 그릇의 원가를 매일 계산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5157" y="5868111"/>
            <a:ext cx="4861582" cy="11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710" indent="-272355" lvl="1">
              <a:lnSpc>
                <a:spcPts val="4541"/>
              </a:lnSpc>
              <a:buAutoNum type="arabicPeriod" startAt="1"/>
            </a:pPr>
            <a:r>
              <a:rPr lang="en-US" b="true" sz="2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판매가 대비 원가 비중이 오르면 </a:t>
            </a:r>
          </a:p>
          <a:p>
            <a:pPr algn="l">
              <a:lnSpc>
                <a:spcPts val="4541"/>
              </a:lnSpc>
            </a:pPr>
            <a:r>
              <a:rPr lang="en-US" b="true" sz="2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</a:t>
            </a:r>
            <a:r>
              <a:rPr lang="en-US" b="true" sz="2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사장님에게 먼저 알림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7934" y="2887710"/>
            <a:ext cx="7879476" cy="40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b="true" sz="204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알림 예시 (가상 수치)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2857" y="2709872"/>
            <a:ext cx="7734783" cy="6826587"/>
            <a:chOff x="0" y="0"/>
            <a:chExt cx="10313043" cy="9102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3043" cy="9102141"/>
            </a:xfrm>
            <a:custGeom>
              <a:avLst/>
              <a:gdLst/>
              <a:ahLst/>
              <a:cxnLst/>
              <a:rect r="r" b="b" t="t" l="l"/>
              <a:pathLst>
                <a:path h="9102141" w="10313043">
                  <a:moveTo>
                    <a:pt x="0" y="467281"/>
                  </a:moveTo>
                  <a:cubicBezTo>
                    <a:pt x="0" y="209108"/>
                    <a:pt x="107328" y="0"/>
                    <a:pt x="239838" y="0"/>
                  </a:cubicBezTo>
                  <a:lnTo>
                    <a:pt x="10073205" y="0"/>
                  </a:lnTo>
                  <a:cubicBezTo>
                    <a:pt x="10205716" y="0"/>
                    <a:pt x="10313043" y="209108"/>
                    <a:pt x="10313043" y="467281"/>
                  </a:cubicBezTo>
                  <a:lnTo>
                    <a:pt x="10313043" y="8634881"/>
                  </a:lnTo>
                  <a:cubicBezTo>
                    <a:pt x="10313043" y="8893054"/>
                    <a:pt x="10205716" y="9102141"/>
                    <a:pt x="10073205" y="9102141"/>
                  </a:cubicBezTo>
                  <a:lnTo>
                    <a:pt x="239838" y="9102141"/>
                  </a:lnTo>
                  <a:cubicBezTo>
                    <a:pt x="107328" y="9102141"/>
                    <a:pt x="0" y="8893054"/>
                    <a:pt x="0" y="8634881"/>
                  </a:cubicBezTo>
                  <a:close/>
                </a:path>
              </a:pathLst>
            </a:custGeom>
            <a:solidFill>
              <a:srgbClr val="0F2B26">
                <a:alpha val="87843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50144" y="3297080"/>
            <a:ext cx="5105033" cy="3037495"/>
          </a:xfrm>
          <a:custGeom>
            <a:avLst/>
            <a:gdLst/>
            <a:ahLst/>
            <a:cxnLst/>
            <a:rect r="r" b="b" t="t" l="l"/>
            <a:pathLst>
              <a:path h="3037495" w="5105033">
                <a:moveTo>
                  <a:pt x="0" y="0"/>
                </a:moveTo>
                <a:lnTo>
                  <a:pt x="5105033" y="0"/>
                </a:lnTo>
                <a:lnTo>
                  <a:pt x="5105033" y="3037494"/>
                </a:lnTo>
                <a:lnTo>
                  <a:pt x="0" y="303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② · 실구매가 및 공급처 비교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표시가격이 아닌 ‘실제로 내는 돈’으로 비교한다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7728" y="5932665"/>
            <a:ext cx="3232717" cy="82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b="true" sz="4199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하고 싶은 것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728" y="7046597"/>
            <a:ext cx="7620427" cy="156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</a:pPr>
            <a:r>
              <a:rPr lang="en-US" b="true" sz="35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배송비 · 최소주문량 · 할인까지 반영</a:t>
            </a:r>
          </a:p>
          <a:p>
            <a:pPr algn="l">
              <a:lnSpc>
                <a:spcPts val="6479"/>
              </a:lnSpc>
            </a:pPr>
            <a:r>
              <a:rPr lang="en-US" b="true" sz="35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kg당 실제 구매 가격으로 바꿔 비교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03138" y="3569636"/>
            <a:ext cx="4599045" cy="168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b="true" sz="2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표시가는 싸지만 배송비가 붙는 곳 </a:t>
            </a:r>
          </a:p>
          <a:p>
            <a:pPr algn="ctr">
              <a:lnSpc>
                <a:spcPts val="4607"/>
              </a:lnSpc>
            </a:pPr>
            <a:r>
              <a:rPr lang="en-US" b="true" sz="2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vs </a:t>
            </a:r>
          </a:p>
          <a:p>
            <a:pPr algn="ctr">
              <a:lnSpc>
                <a:spcPts val="4607"/>
              </a:lnSpc>
            </a:pPr>
            <a:r>
              <a:rPr lang="en-US" b="true" sz="2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조금 비싸도 묶음 배송이 되는 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82544" y="2851809"/>
            <a:ext cx="7016947" cy="196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b="true" sz="3249">
                <a:solidFill>
                  <a:srgbClr val="E86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맞추기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중량·등급·원산지·구매단위를 통일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같은 품목끼리 비교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82544" y="4953000"/>
            <a:ext cx="7016947" cy="196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b="true" sz="3249">
                <a:solidFill>
                  <a:srgbClr val="E86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비교 대상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대구 식자재마트·도매업체, 식봄 입점 상품 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(대표 품목 수동 표본)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82544" y="7056122"/>
            <a:ext cx="7016947" cy="196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b="true" sz="3249">
                <a:solidFill>
                  <a:srgbClr val="E86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추천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필요한 수량, 받을 날짜 기준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가장 유리한 구매처 제시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8742" y="2717615"/>
            <a:ext cx="1209093" cy="60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b="true" sz="304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input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3501" y="3663506"/>
            <a:ext cx="5780556" cy="1090964"/>
            <a:chOff x="0" y="0"/>
            <a:chExt cx="5492750" cy="10366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2750" cy="1036774"/>
            </a:xfrm>
            <a:custGeom>
              <a:avLst/>
              <a:gdLst/>
              <a:ahLst/>
              <a:cxnLst/>
              <a:rect r="r" b="b" t="t" l="l"/>
              <a:pathLst>
                <a:path h="1036774" w="5492750">
                  <a:moveTo>
                    <a:pt x="0" y="100224"/>
                  </a:moveTo>
                  <a:cubicBezTo>
                    <a:pt x="0" y="44821"/>
                    <a:pt x="66167" y="0"/>
                    <a:pt x="147955" y="0"/>
                  </a:cubicBezTo>
                  <a:lnTo>
                    <a:pt x="5344795" y="0"/>
                  </a:lnTo>
                  <a:cubicBezTo>
                    <a:pt x="5426456" y="0"/>
                    <a:pt x="5492750" y="44821"/>
                    <a:pt x="5492750" y="100224"/>
                  </a:cubicBezTo>
                  <a:lnTo>
                    <a:pt x="5492750" y="936509"/>
                  </a:lnTo>
                  <a:cubicBezTo>
                    <a:pt x="5492750" y="991826"/>
                    <a:pt x="5426583" y="1036774"/>
                    <a:pt x="5344795" y="1036774"/>
                  </a:cubicBezTo>
                  <a:lnTo>
                    <a:pt x="147955" y="1036774"/>
                  </a:lnTo>
                  <a:cubicBezTo>
                    <a:pt x="66167" y="1036647"/>
                    <a:pt x="0" y="991826"/>
                    <a:pt x="0" y="936423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33350"/>
              <a:ext cx="5492750" cy="11699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09"/>
                </a:lnSpc>
              </a:pPr>
              <a:r>
                <a:rPr lang="en-US" b="true" sz="244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</a:t>
              </a:r>
              <a:r>
                <a:rPr lang="en-US" b="true" sz="2449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b="true" sz="2449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과거 관측</a:t>
              </a:r>
            </a:p>
            <a:p>
              <a:pPr algn="l">
                <a:lnSpc>
                  <a:spcPts val="4049"/>
                </a:lnSpc>
              </a:pPr>
              <a:r>
                <a:rPr lang="en-US" b="true" sz="224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</a:t>
              </a:r>
              <a:r>
                <a:rPr lang="en-US" sz="224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메뉴별 일 판매량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3501" y="5107403"/>
            <a:ext cx="5780556" cy="1148520"/>
            <a:chOff x="0" y="0"/>
            <a:chExt cx="5492750" cy="10913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2750" cy="1091337"/>
            </a:xfrm>
            <a:custGeom>
              <a:avLst/>
              <a:gdLst/>
              <a:ahLst/>
              <a:cxnLst/>
              <a:rect r="r" b="b" t="t" l="l"/>
              <a:pathLst>
                <a:path h="1091337" w="5492750">
                  <a:moveTo>
                    <a:pt x="0" y="79438"/>
                  </a:moveTo>
                  <a:cubicBezTo>
                    <a:pt x="0" y="35580"/>
                    <a:pt x="66040" y="0"/>
                    <a:pt x="147447" y="0"/>
                  </a:cubicBezTo>
                  <a:lnTo>
                    <a:pt x="5345303" y="0"/>
                  </a:lnTo>
                  <a:cubicBezTo>
                    <a:pt x="5426710" y="0"/>
                    <a:pt x="5492750" y="35580"/>
                    <a:pt x="5492750" y="79438"/>
                  </a:cubicBezTo>
                  <a:lnTo>
                    <a:pt x="5492750" y="1011899"/>
                  </a:lnTo>
                  <a:cubicBezTo>
                    <a:pt x="5492750" y="1055758"/>
                    <a:pt x="5426710" y="1091337"/>
                    <a:pt x="5345303" y="1091337"/>
                  </a:cubicBezTo>
                  <a:lnTo>
                    <a:pt x="147447" y="1091337"/>
                  </a:lnTo>
                  <a:cubicBezTo>
                    <a:pt x="66040" y="1091337"/>
                    <a:pt x="0" y="1055758"/>
                    <a:pt x="0" y="1011899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33350"/>
              <a:ext cx="5492750" cy="122468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09"/>
                </a:lnSpc>
              </a:pPr>
              <a:r>
                <a:rPr lang="en-US" b="true" sz="2449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</a:t>
              </a:r>
              <a:r>
                <a:rPr lang="en-US" b="true" sz="2449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미래에 알려진 값 (어플 기본 제공)</a:t>
              </a:r>
            </a:p>
            <a:p>
              <a:pPr algn="l">
                <a:lnSpc>
                  <a:spcPts val="4229"/>
                </a:lnSpc>
              </a:pPr>
              <a:r>
                <a:rPr lang="en-US" b="true" sz="234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</a:t>
              </a:r>
              <a:r>
                <a:rPr lang="en-US" sz="234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요일, 공휴일·명절, 대구 행사, 기상 예보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501" y="6730466"/>
            <a:ext cx="5780556" cy="1171044"/>
            <a:chOff x="0" y="0"/>
            <a:chExt cx="5492750" cy="11127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2750" cy="1112866"/>
            </a:xfrm>
            <a:custGeom>
              <a:avLst/>
              <a:gdLst/>
              <a:ahLst/>
              <a:cxnLst/>
              <a:rect r="r" b="b" t="t" l="l"/>
              <a:pathLst>
                <a:path h="1112866" w="5492750">
                  <a:moveTo>
                    <a:pt x="0" y="107580"/>
                  </a:moveTo>
                  <a:cubicBezTo>
                    <a:pt x="0" y="48111"/>
                    <a:pt x="66167" y="0"/>
                    <a:pt x="147955" y="0"/>
                  </a:cubicBezTo>
                  <a:lnTo>
                    <a:pt x="5344795" y="0"/>
                  </a:lnTo>
                  <a:cubicBezTo>
                    <a:pt x="5426456" y="0"/>
                    <a:pt x="5492750" y="48111"/>
                    <a:pt x="5492750" y="107580"/>
                  </a:cubicBezTo>
                  <a:lnTo>
                    <a:pt x="5492750" y="1005251"/>
                  </a:lnTo>
                  <a:cubicBezTo>
                    <a:pt x="5492750" y="1064628"/>
                    <a:pt x="5426583" y="1112866"/>
                    <a:pt x="5344795" y="1112866"/>
                  </a:cubicBezTo>
                  <a:lnTo>
                    <a:pt x="147955" y="1112866"/>
                  </a:lnTo>
                  <a:cubicBezTo>
                    <a:pt x="66167" y="1112739"/>
                    <a:pt x="0" y="1064628"/>
                    <a:pt x="0" y="1005159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33350"/>
              <a:ext cx="5492750" cy="124608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09"/>
                </a:lnSpc>
              </a:pPr>
              <a:r>
                <a:rPr lang="en-US" b="true" sz="2449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</a:t>
              </a:r>
              <a:r>
                <a:rPr lang="en-US" b="true" sz="2449">
                  <a:solidFill>
                    <a:srgbClr val="B448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정적 속성</a:t>
              </a:r>
            </a:p>
            <a:p>
              <a:pPr algn="l">
                <a:lnSpc>
                  <a:spcPts val="4229"/>
                </a:lnSpc>
              </a:pPr>
              <a:r>
                <a:rPr lang="en-US" b="true" sz="234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</a:t>
              </a:r>
              <a:r>
                <a:rPr lang="en-US" sz="234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업종, 메뉴 분류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28105" y="5128496"/>
            <a:ext cx="914400" cy="457200"/>
            <a:chOff x="0" y="0"/>
            <a:chExt cx="1219200" cy="609600"/>
          </a:xfrm>
        </p:grpSpPr>
        <p:sp>
          <p:nvSpPr>
            <p:cNvPr name="Freeform 13" id="13" descr="arrow-right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57356" y="5118063"/>
            <a:ext cx="914400" cy="457200"/>
            <a:chOff x="0" y="0"/>
            <a:chExt cx="1219200" cy="609600"/>
          </a:xfrm>
        </p:grpSpPr>
        <p:sp>
          <p:nvSpPr>
            <p:cNvPr name="Freeform 15" id="15" descr="arrow-right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00356" y="4453399"/>
            <a:ext cx="4114800" cy="2266655"/>
            <a:chOff x="0" y="0"/>
            <a:chExt cx="5486400" cy="30222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3022219"/>
            </a:xfrm>
            <a:custGeom>
              <a:avLst/>
              <a:gdLst/>
              <a:ahLst/>
              <a:cxnLst/>
              <a:rect r="r" b="b" t="t" l="l"/>
              <a:pathLst>
                <a:path h="3022219" w="54864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283200" y="0"/>
                  </a:lnTo>
                  <a:cubicBezTo>
                    <a:pt x="5395468" y="0"/>
                    <a:pt x="5486400" y="90932"/>
                    <a:pt x="5486400" y="203200"/>
                  </a:cubicBezTo>
                  <a:lnTo>
                    <a:pt x="5486400" y="2819019"/>
                  </a:lnTo>
                  <a:cubicBezTo>
                    <a:pt x="5486400" y="2931287"/>
                    <a:pt x="5395468" y="3022219"/>
                    <a:pt x="5283200" y="3022219"/>
                  </a:cubicBezTo>
                  <a:lnTo>
                    <a:pt x="203200" y="3022219"/>
                  </a:lnTo>
                  <a:cubicBezTo>
                    <a:pt x="90932" y="3022219"/>
                    <a:pt x="0" y="2931287"/>
                    <a:pt x="0" y="2819019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966380" y="4022471"/>
            <a:ext cx="2054273" cy="2893342"/>
          </a:xfrm>
          <a:custGeom>
            <a:avLst/>
            <a:gdLst/>
            <a:ahLst/>
            <a:cxnLst/>
            <a:rect r="r" b="b" t="t" l="l"/>
            <a:pathLst>
              <a:path h="2893342" w="2054273">
                <a:moveTo>
                  <a:pt x="0" y="0"/>
                </a:moveTo>
                <a:lnTo>
                  <a:pt x="2054273" y="0"/>
                </a:lnTo>
                <a:lnTo>
                  <a:pt x="2054273" y="2893342"/>
                </a:lnTo>
                <a:lnTo>
                  <a:pt x="0" y="2893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③-1 · 메뉴 수요 예측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사장님의 질문으로 예측한다: “내일 김치찌개 몇 그릇?”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45306" y="3724927"/>
            <a:ext cx="1424900" cy="60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b="true" sz="30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59182" y="4728591"/>
            <a:ext cx="2797149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내일 </a:t>
            </a:r>
            <a:r>
              <a:rPr lang="en-US" b="true" sz="21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김치찌개  예상 판매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3774" y="5076567"/>
            <a:ext cx="2087965" cy="82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6"/>
              </a:lnSpc>
            </a:pPr>
            <a:r>
              <a:rPr lang="en-US" b="true" sz="4200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120그릇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11298" y="6015322"/>
            <a:ext cx="2492916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예상 범위 95~148그릇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9200" y="9281217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Fresh Insight Daegu · 15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99249" y="3317723"/>
            <a:ext cx="849517" cy="60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b="true" sz="305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예측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③-2 · 메뉴 → 식자재 환산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레시피로 ‘그릇’을 ‘kg’으로 바꾼다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38250" y="4118520"/>
          <a:ext cx="15811500" cy="2857500"/>
        </p:xfrm>
        <a:graphic>
          <a:graphicData uri="http://schemas.openxmlformats.org/drawingml/2006/table">
            <a:tbl>
              <a:tblPr/>
              <a:tblGrid>
                <a:gridCol w="3147345"/>
                <a:gridCol w="2214369"/>
                <a:gridCol w="2214369"/>
                <a:gridCol w="2058854"/>
                <a:gridCol w="2058854"/>
                <a:gridCol w="2058854"/>
                <a:gridCol w="2058854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메뉴 (1인분)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예측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돼지고기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김치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두부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양파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애호박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김치찌개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120그릇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50g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150g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¼모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제육볶음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80그릇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150g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80g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된장찌개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60그릇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¼모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30g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50g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필요량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–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18kg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18kg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45모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9.1kg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3kg</a:t>
                      </a:r>
                      <a:endParaRPr lang="en-US" sz="1100"/>
                    </a:p>
                  </a:txBody>
                  <a:tcPr marL="62225" marR="62225" marT="62225" marB="62225" anchor="t">
                    <a:lnL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B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7251354"/>
            <a:ext cx="16325088" cy="57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양파는 손질 손실 10%를 가정해 반영 · 레시피는 사장님이 직접 입력하거나 표준 레시피를 골라 수정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725" y="9281217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모든 수치는 가상 한식당 예시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1534" y="2881224"/>
            <a:ext cx="10644932" cy="58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2999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예상 판매량 × 1인분 레시피로 식자재 필요량 산출, 손질 손실량 반영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③-3 · 품목별 발주량 추천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품목마다 ‘여유분’을 다르게 잡는다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8725" y="3872655"/>
            <a:ext cx="8191500" cy="3125838"/>
            <a:chOff x="0" y="0"/>
            <a:chExt cx="10922000" cy="41677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22000" cy="4167822"/>
            </a:xfrm>
            <a:custGeom>
              <a:avLst/>
              <a:gdLst/>
              <a:ahLst/>
              <a:cxnLst/>
              <a:rect r="r" b="b" t="t" l="l"/>
              <a:pathLst>
                <a:path h="4167822" w="10922000">
                  <a:moveTo>
                    <a:pt x="0" y="152235"/>
                  </a:moveTo>
                  <a:cubicBezTo>
                    <a:pt x="0" y="68201"/>
                    <a:pt x="113792" y="0"/>
                    <a:pt x="254000" y="0"/>
                  </a:cubicBezTo>
                  <a:lnTo>
                    <a:pt x="10668000" y="0"/>
                  </a:lnTo>
                  <a:cubicBezTo>
                    <a:pt x="10808335" y="0"/>
                    <a:pt x="10922000" y="68201"/>
                    <a:pt x="10922000" y="152235"/>
                  </a:cubicBezTo>
                  <a:lnTo>
                    <a:pt x="10922000" y="4015572"/>
                  </a:lnTo>
                  <a:cubicBezTo>
                    <a:pt x="10922000" y="4099682"/>
                    <a:pt x="10808208" y="4167822"/>
                    <a:pt x="10668000" y="4167822"/>
                  </a:cubicBezTo>
                  <a:lnTo>
                    <a:pt x="254000" y="4167822"/>
                  </a:lnTo>
                  <a:cubicBezTo>
                    <a:pt x="113665" y="4167822"/>
                    <a:pt x="0" y="4099606"/>
                    <a:pt x="0" y="4015572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6400" y="4023122"/>
            <a:ext cx="7495413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하고 싶은 것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00" y="4499330"/>
            <a:ext cx="749541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2499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예상 수요의 범위를 보고 ‘모자라서 못 파는 손해’와 </a:t>
            </a:r>
          </a:p>
          <a:p>
            <a:pPr algn="l">
              <a:lnSpc>
                <a:spcPts val="4499"/>
              </a:lnSpc>
            </a:pPr>
            <a:r>
              <a:rPr lang="en-US" b="true" sz="2499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‘남아서 버리는 손해’를 비교해, </a:t>
            </a:r>
          </a:p>
          <a:p>
            <a:pPr algn="l">
              <a:lnSpc>
                <a:spcPts val="4499"/>
              </a:lnSpc>
            </a:pPr>
            <a:r>
              <a:rPr lang="en-US" b="true" sz="2499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품목별 적정 발주량을 추천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6400" y="6346959"/>
            <a:ext cx="7705344" cy="38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1804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다음 입고 때까지 필요한 양에 여유분을 더하고, 지금 가진 재고만큼은 빼고 주문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89319" y="2877893"/>
            <a:ext cx="7281862" cy="1490510"/>
            <a:chOff x="0" y="0"/>
            <a:chExt cx="9709150" cy="19873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09150" cy="1987296"/>
            </a:xfrm>
            <a:custGeom>
              <a:avLst/>
              <a:gdLst/>
              <a:ahLst/>
              <a:cxnLst/>
              <a:rect r="r" b="b" t="t" l="l"/>
              <a:pathLst>
                <a:path h="1987296" w="9709150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9510395" y="0"/>
                  </a:lnTo>
                  <a:cubicBezTo>
                    <a:pt x="9620123" y="0"/>
                    <a:pt x="9709150" y="89027"/>
                    <a:pt x="9709150" y="198755"/>
                  </a:cubicBezTo>
                  <a:lnTo>
                    <a:pt x="9709150" y="1788541"/>
                  </a:lnTo>
                  <a:cubicBezTo>
                    <a:pt x="9709150" y="1898269"/>
                    <a:pt x="9620123" y="1987296"/>
                    <a:pt x="9510395" y="1987296"/>
                  </a:cubicBezTo>
                  <a:lnTo>
                    <a:pt x="198755" y="1987296"/>
                  </a:lnTo>
                  <a:cubicBezTo>
                    <a:pt x="89027" y="1987296"/>
                    <a:pt x="0" y="1898396"/>
                    <a:pt x="0" y="1788541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106025" y="3146974"/>
            <a:ext cx="6847904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신선 채소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6025" y="3512639"/>
            <a:ext cx="6847904" cy="57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남으면 버려야 하므로 여유분은 적게, 대신 자주 나눠 발주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89319" y="4554141"/>
            <a:ext cx="7281862" cy="1490510"/>
            <a:chOff x="0" y="0"/>
            <a:chExt cx="9709150" cy="19873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09150" cy="1987296"/>
            </a:xfrm>
            <a:custGeom>
              <a:avLst/>
              <a:gdLst/>
              <a:ahLst/>
              <a:cxnLst/>
              <a:rect r="r" b="b" t="t" l="l"/>
              <a:pathLst>
                <a:path h="1987296" w="9709150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9510395" y="0"/>
                  </a:lnTo>
                  <a:cubicBezTo>
                    <a:pt x="9620123" y="0"/>
                    <a:pt x="9709150" y="89027"/>
                    <a:pt x="9709150" y="198755"/>
                  </a:cubicBezTo>
                  <a:lnTo>
                    <a:pt x="9709150" y="1788541"/>
                  </a:lnTo>
                  <a:cubicBezTo>
                    <a:pt x="9709150" y="1898269"/>
                    <a:pt x="9620123" y="1987296"/>
                    <a:pt x="9510395" y="1987296"/>
                  </a:cubicBezTo>
                  <a:lnTo>
                    <a:pt x="198755" y="1987296"/>
                  </a:lnTo>
                  <a:cubicBezTo>
                    <a:pt x="89027" y="1987296"/>
                    <a:pt x="0" y="1898396"/>
                    <a:pt x="0" y="1788541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106025" y="4823222"/>
            <a:ext cx="6847904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냉동 · 건자재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6025" y="5188896"/>
            <a:ext cx="6847904" cy="57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오래 보관할 수 있으므로 여유분을 넉넉히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91700" y="6232769"/>
            <a:ext cx="7277100" cy="1862880"/>
            <a:chOff x="0" y="0"/>
            <a:chExt cx="9702800" cy="24838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02800" cy="2483866"/>
            </a:xfrm>
            <a:custGeom>
              <a:avLst/>
              <a:gdLst/>
              <a:ahLst/>
              <a:cxnLst/>
              <a:rect r="r" b="b" t="t" l="l"/>
              <a:pathLst>
                <a:path h="2483866" w="97028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9499600" y="0"/>
                  </a:lnTo>
                  <a:cubicBezTo>
                    <a:pt x="9611868" y="0"/>
                    <a:pt x="9702800" y="90932"/>
                    <a:pt x="9702800" y="203200"/>
                  </a:cubicBezTo>
                  <a:lnTo>
                    <a:pt x="9702800" y="2280666"/>
                  </a:lnTo>
                  <a:cubicBezTo>
                    <a:pt x="9702800" y="2392934"/>
                    <a:pt x="9611868" y="2483866"/>
                    <a:pt x="9499600" y="2483866"/>
                  </a:cubicBezTo>
                  <a:lnTo>
                    <a:pt x="203200" y="2483866"/>
                  </a:lnTo>
                  <a:cubicBezTo>
                    <a:pt x="90932" y="2483866"/>
                    <a:pt x="0" y="2392934"/>
                    <a:pt x="0" y="2280666"/>
                  </a:cubicBezTo>
                  <a:close/>
                </a:path>
              </a:pathLst>
            </a:custGeom>
            <a:solidFill>
              <a:srgbClr val="FBE3D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96500" y="6489944"/>
            <a:ext cx="6867525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공통 식자재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96500" y="6855619"/>
            <a:ext cx="6867525" cy="89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양파처럼 여러 메뉴에 쓰이면 메뉴별 증감이 서로 상쇄 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→ 메뉴별이 아니라 식자재 단위로 여유분 산정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200" y="9281217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Fresh Insight Daegu · 17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③-4 · 설명 가능한 발주 추천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“왜 12kg인가”를 함께 보여준다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553977" y="2784411"/>
            <a:ext cx="11550759" cy="6249770"/>
            <a:chOff x="0" y="0"/>
            <a:chExt cx="10871200" cy="5882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71200" cy="5882132"/>
            </a:xfrm>
            <a:custGeom>
              <a:avLst/>
              <a:gdLst/>
              <a:ahLst/>
              <a:cxnLst/>
              <a:rect r="r" b="b" t="t" l="l"/>
              <a:pathLst>
                <a:path h="5882132" w="10871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617200" y="0"/>
                  </a:lnTo>
                  <a:cubicBezTo>
                    <a:pt x="10757535" y="0"/>
                    <a:pt x="10871200" y="113665"/>
                    <a:pt x="10871200" y="254000"/>
                  </a:cubicBezTo>
                  <a:lnTo>
                    <a:pt x="10871200" y="5628132"/>
                  </a:lnTo>
                  <a:cubicBezTo>
                    <a:pt x="10871200" y="5768467"/>
                    <a:pt x="10757535" y="5882132"/>
                    <a:pt x="10617200" y="5882132"/>
                  </a:cubicBezTo>
                  <a:lnTo>
                    <a:pt x="254000" y="5882132"/>
                  </a:lnTo>
                  <a:cubicBezTo>
                    <a:pt x="113665" y="5882132"/>
                    <a:pt x="0" y="5768467"/>
                    <a:pt x="0" y="5628132"/>
                  </a:cubicBezTo>
                  <a:close/>
                </a:path>
              </a:pathLst>
            </a:custGeom>
            <a:solidFill>
              <a:srgbClr val="F6F4E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535314" y="3728256"/>
            <a:ext cx="10674196" cy="73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b="true" sz="3825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돼지고기 12kg 발주 권장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5314" y="4579320"/>
            <a:ext cx="10674196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276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필요 18kg − 재고 6kg · 김치찌개·제육볶음 수요 증가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5314" y="5367241"/>
            <a:ext cx="334648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276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금요일 효과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89747" y="5547565"/>
            <a:ext cx="5127673" cy="377829"/>
            <a:chOff x="0" y="0"/>
            <a:chExt cx="4826000" cy="35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355600"/>
            </a:xfrm>
            <a:custGeom>
              <a:avLst/>
              <a:gdLst/>
              <a:ahLst/>
              <a:cxnLst/>
              <a:rect r="r" b="b" t="t" l="l"/>
              <a:pathLst>
                <a:path h="355600" w="4826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4749800" y="0"/>
                  </a:lnTo>
                  <a:cubicBezTo>
                    <a:pt x="4791837" y="0"/>
                    <a:pt x="4826000" y="34163"/>
                    <a:pt x="4826000" y="76200"/>
                  </a:cubicBezTo>
                  <a:lnTo>
                    <a:pt x="4826000" y="279400"/>
                  </a:lnTo>
                  <a:cubicBezTo>
                    <a:pt x="4826000" y="321437"/>
                    <a:pt x="4791837" y="355600"/>
                    <a:pt x="47498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333322" y="5367241"/>
            <a:ext cx="90224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b="true" sz="276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38%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35314" y="6047198"/>
            <a:ext cx="334648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276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비 예보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89747" y="6227535"/>
            <a:ext cx="3508408" cy="377829"/>
            <a:chOff x="0" y="0"/>
            <a:chExt cx="3302000" cy="35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355600"/>
            </a:xfrm>
            <a:custGeom>
              <a:avLst/>
              <a:gdLst/>
              <a:ahLst/>
              <a:cxnLst/>
              <a:rect r="r" b="b" t="t" l="l"/>
              <a:pathLst>
                <a:path h="355600" w="3302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225800" y="0"/>
                  </a:lnTo>
                  <a:cubicBezTo>
                    <a:pt x="3267837" y="0"/>
                    <a:pt x="3302000" y="34163"/>
                    <a:pt x="3302000" y="76200"/>
                  </a:cubicBezTo>
                  <a:lnTo>
                    <a:pt x="3302000" y="279400"/>
                  </a:lnTo>
                  <a:cubicBezTo>
                    <a:pt x="3302000" y="321437"/>
                    <a:pt x="3267837" y="355600"/>
                    <a:pt x="32258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714057" y="6047198"/>
            <a:ext cx="90224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b="true" sz="276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35314" y="6727168"/>
            <a:ext cx="334648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276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최근 2주 추세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89747" y="6907491"/>
            <a:ext cx="2698775" cy="377829"/>
            <a:chOff x="0" y="0"/>
            <a:chExt cx="2540000" cy="35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540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463800" y="0"/>
                  </a:lnTo>
                  <a:cubicBezTo>
                    <a:pt x="2505837" y="0"/>
                    <a:pt x="2540000" y="34163"/>
                    <a:pt x="2540000" y="76200"/>
                  </a:cubicBezTo>
                  <a:lnTo>
                    <a:pt x="2540000" y="279400"/>
                  </a:lnTo>
                  <a:cubicBezTo>
                    <a:pt x="2540000" y="321437"/>
                    <a:pt x="2505837" y="355600"/>
                    <a:pt x="24638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904424" y="6727168"/>
            <a:ext cx="90224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b="true" sz="276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5314" y="7407124"/>
            <a:ext cx="334648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276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기타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989747" y="7587461"/>
            <a:ext cx="2159020" cy="377829"/>
            <a:chOff x="0" y="0"/>
            <a:chExt cx="2032000" cy="355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2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032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55800" y="0"/>
                  </a:lnTo>
                  <a:cubicBezTo>
                    <a:pt x="1997837" y="0"/>
                    <a:pt x="2032000" y="34163"/>
                    <a:pt x="2032000" y="76200"/>
                  </a:cubicBezTo>
                  <a:lnTo>
                    <a:pt x="2032000" y="279400"/>
                  </a:lnTo>
                  <a:cubicBezTo>
                    <a:pt x="2032000" y="321437"/>
                    <a:pt x="1997837" y="355600"/>
                    <a:pt x="1955800" y="355600"/>
                  </a:cubicBezTo>
                  <a:lnTo>
                    <a:pt x="76200" y="355600"/>
                  </a:lnTo>
                  <a:cubicBezTo>
                    <a:pt x="34163" y="355600"/>
                    <a:pt x="0" y="321437"/>
                    <a:pt x="0" y="279400"/>
                  </a:cubicBezTo>
                  <a:close/>
                </a:path>
              </a:pathLst>
            </a:custGeom>
            <a:solidFill>
              <a:srgbClr val="B9C4B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364669" y="7407124"/>
            <a:ext cx="902241" cy="66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b="true" sz="276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16%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 ④ · 구매 연결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6831062" cy="138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8"/>
              </a:lnSpc>
            </a:pPr>
            <a:r>
              <a:rPr lang="en-US" b="true" sz="47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추천에서 구매까지 한 번에! </a:t>
            </a:r>
          </a:p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</a:t>
            </a:r>
            <a:r>
              <a:rPr lang="en-US" b="true" sz="3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식봄 검색으로 바로 이동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8009" y="4087537"/>
            <a:ext cx="4767262" cy="1583979"/>
            <a:chOff x="0" y="0"/>
            <a:chExt cx="6356350" cy="2111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6350" cy="2112010"/>
            </a:xfrm>
            <a:custGeom>
              <a:avLst/>
              <a:gdLst/>
              <a:ahLst/>
              <a:cxnLst/>
              <a:rect r="r" b="b" t="t" l="l"/>
              <a:pathLst>
                <a:path h="2112010" w="6356350">
                  <a:moveTo>
                    <a:pt x="0" y="249936"/>
                  </a:moveTo>
                  <a:cubicBezTo>
                    <a:pt x="0" y="111887"/>
                    <a:pt x="111887" y="0"/>
                    <a:pt x="249936" y="0"/>
                  </a:cubicBezTo>
                  <a:lnTo>
                    <a:pt x="6106414" y="0"/>
                  </a:lnTo>
                  <a:cubicBezTo>
                    <a:pt x="6244463" y="0"/>
                    <a:pt x="6356350" y="111887"/>
                    <a:pt x="6356350" y="249936"/>
                  </a:cubicBezTo>
                  <a:lnTo>
                    <a:pt x="6356350" y="1862074"/>
                  </a:lnTo>
                  <a:cubicBezTo>
                    <a:pt x="6356350" y="2000123"/>
                    <a:pt x="6244463" y="2112010"/>
                    <a:pt x="6106414" y="2112010"/>
                  </a:cubicBezTo>
                  <a:lnTo>
                    <a:pt x="249936" y="2112010"/>
                  </a:lnTo>
                  <a:cubicBezTo>
                    <a:pt x="111887" y="2112010"/>
                    <a:pt x="0" y="2000123"/>
                    <a:pt x="0" y="1862074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72816" y="4385193"/>
            <a:ext cx="4179379" cy="48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25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대구 외식업자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2816" y="4821409"/>
            <a:ext cx="41793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발주 품목·수량 확인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73391" y="4689098"/>
            <a:ext cx="762000" cy="381000"/>
            <a:chOff x="0" y="0"/>
            <a:chExt cx="1016000" cy="508000"/>
          </a:xfrm>
        </p:grpSpPr>
        <p:sp>
          <p:nvSpPr>
            <p:cNvPr name="Freeform 9" id="9" descr="arrow-right"/>
            <p:cNvSpPr/>
            <p:nvPr/>
          </p:nvSpPr>
          <p:spPr>
            <a:xfrm flipH="false" flipV="false" rot="0">
              <a:off x="0" y="0"/>
              <a:ext cx="1016000" cy="508000"/>
            </a:xfrm>
            <a:custGeom>
              <a:avLst/>
              <a:gdLst/>
              <a:ahLst/>
              <a:cxnLst/>
              <a:rect r="r" b="b" t="t" l="l"/>
              <a:pathLst>
                <a:path h="508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25891" y="4099443"/>
            <a:ext cx="4743450" cy="1560166"/>
            <a:chOff x="0" y="0"/>
            <a:chExt cx="6324600" cy="2080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24600" cy="2080260"/>
            </a:xfrm>
            <a:custGeom>
              <a:avLst/>
              <a:gdLst/>
              <a:ahLst/>
              <a:cxnLst/>
              <a:rect r="r" b="b" t="t" l="l"/>
              <a:pathLst>
                <a:path h="2080260" w="63246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070600" y="0"/>
                  </a:lnTo>
                  <a:cubicBezTo>
                    <a:pt x="6210935" y="0"/>
                    <a:pt x="6324600" y="113665"/>
                    <a:pt x="6324600" y="254000"/>
                  </a:cubicBezTo>
                  <a:lnTo>
                    <a:pt x="6324600" y="1826260"/>
                  </a:lnTo>
                  <a:cubicBezTo>
                    <a:pt x="6324600" y="1966595"/>
                    <a:pt x="6210935" y="2080260"/>
                    <a:pt x="6070600" y="2080260"/>
                  </a:cubicBezTo>
                  <a:lnTo>
                    <a:pt x="254000" y="2080260"/>
                  </a:lnTo>
                  <a:cubicBezTo>
                    <a:pt x="113665" y="2080260"/>
                    <a:pt x="0" y="1966595"/>
                    <a:pt x="0" y="1826260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468791" y="4385193"/>
            <a:ext cx="4179379" cy="48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255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Fresh Insight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68791" y="4821409"/>
            <a:ext cx="41793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품목·규격·수량을 검색 조건으로 변환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59841" y="4689098"/>
            <a:ext cx="762000" cy="381000"/>
            <a:chOff x="0" y="0"/>
            <a:chExt cx="1016000" cy="508000"/>
          </a:xfrm>
        </p:grpSpPr>
        <p:sp>
          <p:nvSpPr>
            <p:cNvPr name="Freeform 15" id="15" descr="arrow-right"/>
            <p:cNvSpPr/>
            <p:nvPr/>
          </p:nvSpPr>
          <p:spPr>
            <a:xfrm flipH="false" flipV="false" rot="0">
              <a:off x="0" y="0"/>
              <a:ext cx="1016000" cy="508000"/>
            </a:xfrm>
            <a:custGeom>
              <a:avLst/>
              <a:gdLst/>
              <a:ahLst/>
              <a:cxnLst/>
              <a:rect r="r" b="b" t="t" l="l"/>
              <a:pathLst>
                <a:path h="508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12341" y="3530924"/>
            <a:ext cx="4057650" cy="1272483"/>
            <a:chOff x="0" y="0"/>
            <a:chExt cx="5410200" cy="16966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10200" cy="1696593"/>
            </a:xfrm>
            <a:custGeom>
              <a:avLst/>
              <a:gdLst/>
              <a:ahLst/>
              <a:cxnLst/>
              <a:rect r="r" b="b" t="t" l="l"/>
              <a:pathLst>
                <a:path h="1696593" w="5410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207000" y="0"/>
                  </a:lnTo>
                  <a:cubicBezTo>
                    <a:pt x="5319268" y="0"/>
                    <a:pt x="5410200" y="90932"/>
                    <a:pt x="5410200" y="203200"/>
                  </a:cubicBezTo>
                  <a:lnTo>
                    <a:pt x="5410200" y="1493393"/>
                  </a:lnTo>
                  <a:cubicBezTo>
                    <a:pt x="5410200" y="1605661"/>
                    <a:pt x="5319268" y="1696593"/>
                    <a:pt x="5207000" y="1696593"/>
                  </a:cubicBezTo>
                  <a:lnTo>
                    <a:pt x="203200" y="1696593"/>
                  </a:lnTo>
                  <a:cubicBezTo>
                    <a:pt x="90932" y="1696593"/>
                    <a:pt x="0" y="1605661"/>
                    <a:pt x="0" y="1493393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79041" y="3749999"/>
            <a:ext cx="362997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2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식봄 상품 검색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79041" y="4140524"/>
            <a:ext cx="362997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검색 결과 페이지로 이동 (딥링크)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012341" y="4955798"/>
            <a:ext cx="4057650" cy="1272483"/>
            <a:chOff x="0" y="0"/>
            <a:chExt cx="5410200" cy="16966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10200" cy="1696593"/>
            </a:xfrm>
            <a:custGeom>
              <a:avLst/>
              <a:gdLst/>
              <a:ahLst/>
              <a:cxnLst/>
              <a:rect r="r" b="b" t="t" l="l"/>
              <a:pathLst>
                <a:path h="1696593" w="5410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207000" y="0"/>
                  </a:lnTo>
                  <a:cubicBezTo>
                    <a:pt x="5319268" y="0"/>
                    <a:pt x="5410200" y="90932"/>
                    <a:pt x="5410200" y="203200"/>
                  </a:cubicBezTo>
                  <a:lnTo>
                    <a:pt x="5410200" y="1493393"/>
                  </a:lnTo>
                  <a:cubicBezTo>
                    <a:pt x="5410200" y="1605661"/>
                    <a:pt x="5319268" y="1696593"/>
                    <a:pt x="5207000" y="1696593"/>
                  </a:cubicBezTo>
                  <a:lnTo>
                    <a:pt x="203200" y="1696593"/>
                  </a:lnTo>
                  <a:cubicBezTo>
                    <a:pt x="90932" y="1696593"/>
                    <a:pt x="0" y="1605661"/>
                    <a:pt x="0" y="1493393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279041" y="5174873"/>
            <a:ext cx="362997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2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대구 지역 공급처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79041" y="5565398"/>
            <a:ext cx="362997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도매·식자재마트 위치·연락처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20391" y="6685480"/>
            <a:ext cx="7791450" cy="1346749"/>
            <a:chOff x="0" y="0"/>
            <a:chExt cx="10388600" cy="17956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88600" cy="1795653"/>
            </a:xfrm>
            <a:custGeom>
              <a:avLst/>
              <a:gdLst/>
              <a:ahLst/>
              <a:cxnLst/>
              <a:rect r="r" b="b" t="t" l="l"/>
              <a:pathLst>
                <a:path h="1795653" w="10388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36200" y="0"/>
                  </a:lnTo>
                  <a:cubicBezTo>
                    <a:pt x="10320401" y="0"/>
                    <a:pt x="10388600" y="68199"/>
                    <a:pt x="10388600" y="152400"/>
                  </a:cubicBezTo>
                  <a:lnTo>
                    <a:pt x="10388600" y="1643253"/>
                  </a:lnTo>
                  <a:cubicBezTo>
                    <a:pt x="10388600" y="1727454"/>
                    <a:pt x="10320401" y="1795653"/>
                    <a:pt x="10236200" y="1795653"/>
                  </a:cubicBezTo>
                  <a:lnTo>
                    <a:pt x="152400" y="1795653"/>
                  </a:lnTo>
                  <a:cubicBezTo>
                    <a:pt x="68199" y="1795653"/>
                    <a:pt x="0" y="1727454"/>
                    <a:pt x="0" y="1643253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20391" y="6685480"/>
            <a:ext cx="7791450" cy="1346749"/>
            <a:chOff x="0" y="0"/>
            <a:chExt cx="10388600" cy="17956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795653"/>
            </a:xfrm>
            <a:custGeom>
              <a:avLst/>
              <a:gdLst/>
              <a:ahLst/>
              <a:cxnLst/>
              <a:rect r="r" b="b" t="t" l="l"/>
              <a:pathLst>
                <a:path h="1795653" w="152400">
                  <a:moveTo>
                    <a:pt x="152400" y="1795653"/>
                  </a:moveTo>
                  <a:cubicBezTo>
                    <a:pt x="68199" y="1795653"/>
                    <a:pt x="0" y="1727454"/>
                    <a:pt x="0" y="1643253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ubicBezTo>
                    <a:pt x="124333" y="0"/>
                    <a:pt x="101600" y="68199"/>
                    <a:pt x="101600" y="152400"/>
                  </a:cubicBezTo>
                  <a:lnTo>
                    <a:pt x="101600" y="1643253"/>
                  </a:lnTo>
                  <a:cubicBezTo>
                    <a:pt x="101600" y="1683639"/>
                    <a:pt x="106934" y="1722374"/>
                    <a:pt x="116459" y="1751076"/>
                  </a:cubicBezTo>
                  <a:cubicBezTo>
                    <a:pt x="125984" y="1779778"/>
                    <a:pt x="138938" y="1795653"/>
                    <a:pt x="152400" y="1795653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01391" y="6856930"/>
            <a:ext cx="7318820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이번 프로젝트 범위 (협약 불필요)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01391" y="7270230"/>
            <a:ext cx="73188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검색 딥링크 · 공급처 정보 제공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78541" y="6685480"/>
            <a:ext cx="7791450" cy="1346749"/>
            <a:chOff x="0" y="0"/>
            <a:chExt cx="10388600" cy="17956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88600" cy="1795653"/>
            </a:xfrm>
            <a:custGeom>
              <a:avLst/>
              <a:gdLst/>
              <a:ahLst/>
              <a:cxnLst/>
              <a:rect r="r" b="b" t="t" l="l"/>
              <a:pathLst>
                <a:path h="1795653" w="10388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36200" y="0"/>
                  </a:lnTo>
                  <a:cubicBezTo>
                    <a:pt x="10320401" y="0"/>
                    <a:pt x="10388600" y="68199"/>
                    <a:pt x="10388600" y="152400"/>
                  </a:cubicBezTo>
                  <a:lnTo>
                    <a:pt x="10388600" y="1643253"/>
                  </a:lnTo>
                  <a:cubicBezTo>
                    <a:pt x="10388600" y="1727454"/>
                    <a:pt x="10320401" y="1795653"/>
                    <a:pt x="10236200" y="1795653"/>
                  </a:cubicBezTo>
                  <a:lnTo>
                    <a:pt x="152400" y="1795653"/>
                  </a:lnTo>
                  <a:cubicBezTo>
                    <a:pt x="68199" y="1795653"/>
                    <a:pt x="0" y="1727454"/>
                    <a:pt x="0" y="1643253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78541" y="6685480"/>
            <a:ext cx="7791450" cy="1346749"/>
            <a:chOff x="0" y="0"/>
            <a:chExt cx="10388600" cy="17956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1795653"/>
            </a:xfrm>
            <a:custGeom>
              <a:avLst/>
              <a:gdLst/>
              <a:ahLst/>
              <a:cxnLst/>
              <a:rect r="r" b="b" t="t" l="l"/>
              <a:pathLst>
                <a:path h="1795653" w="152400">
                  <a:moveTo>
                    <a:pt x="152400" y="1795653"/>
                  </a:moveTo>
                  <a:cubicBezTo>
                    <a:pt x="68199" y="1795653"/>
                    <a:pt x="0" y="1727454"/>
                    <a:pt x="0" y="1643253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ubicBezTo>
                    <a:pt x="124333" y="0"/>
                    <a:pt x="101600" y="68199"/>
                    <a:pt x="101600" y="152400"/>
                  </a:cubicBezTo>
                  <a:lnTo>
                    <a:pt x="101600" y="1643253"/>
                  </a:lnTo>
                  <a:cubicBezTo>
                    <a:pt x="101600" y="1683639"/>
                    <a:pt x="106934" y="1722374"/>
                    <a:pt x="116459" y="1751076"/>
                  </a:cubicBezTo>
                  <a:cubicBezTo>
                    <a:pt x="125984" y="1779778"/>
                    <a:pt x="138938" y="1795653"/>
                    <a:pt x="152400" y="1795653"/>
                  </a:cubicBezTo>
                  <a:close/>
                </a:path>
              </a:pathLst>
            </a:custGeom>
            <a:solidFill>
              <a:srgbClr val="8FA8A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59541" y="6856930"/>
            <a:ext cx="7318820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사업화 단계 과제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59541" y="7270230"/>
            <a:ext cx="73188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주문·납품 API 연동 · 통합배송 연계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b="true" sz="1794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· 데이터 확보 계획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07048"/>
            <a:ext cx="16325088" cy="6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b="true" sz="3522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협약 없이 모으는 10가지 데이터와 확인할 질문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38250" y="2503438"/>
          <a:ext cx="15792450" cy="5657850"/>
        </p:xfrm>
        <a:graphic>
          <a:graphicData uri="http://schemas.openxmlformats.org/drawingml/2006/table">
            <a:tbl>
              <a:tblPr/>
              <a:tblGrid>
                <a:gridCol w="817775"/>
                <a:gridCol w="2690344"/>
                <a:gridCol w="7371767"/>
                <a:gridCol w="3626629"/>
                <a:gridCol w="1285936"/>
              </a:tblGrid>
              <a:tr h="514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b="true" sz="1777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#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b="true" sz="1777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데이터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b="true" sz="1777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확인할 것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b="true" sz="1777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출처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b="true" sz="1777">
                          <a:solidFill>
                            <a:srgbClr val="F6F4E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담당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6"/>
                    </a:solidFill>
                  </a:tcPr>
                </a:tc>
              </a:tr>
              <a:tr h="514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도매 경락가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대파·양배추·양파·마늘·고추 일별 평균/최저/최고가·거래량, 과거 보관 기간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aT 정산정보 API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0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시장·품목 코드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대구 북부도매시장 코드, 5개 품목·등급·단위 코드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aT 표준코드 API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514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KAMIS 도·소매가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대구 지역코드·조사 품목, 도매가와 소매가 차이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KAMIS Open API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산지 날씨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주산지(진도·제주·안동 등) 관측소 번호, 대구(143번)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기상청 ASOS 일자료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514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5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도매시장 반입량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품목별 하루 반입량, 반입이 줄면 다음 날 가격이 오르는가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aT 정산정보 거래량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4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가공품 단가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떡·어묵·고추장·라면사리 업소용 대용량 가격, 인상 이력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참가격·식자재몰·뉴스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5144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7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원재료·환율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쌀·밀가루·건고추 가격, 생산자물가지수, 원/달러 환율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한국은행 ECOS·KAMIS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4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달력 변수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공휴일·설·추석, 도매시장 휴장일, 명절 전후 가격 변화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특일정보 API·시장 공지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5144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9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수요 요인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대구 학교 방학·시험기간, 요일·날씨별 매출 패턴, 배달 비중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NEIS·소상공인 상권정보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4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10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레시피·보관·단위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1인분 재료 사용량(g), 구매 단위(대파 1단·양배추 1망), 보관기한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가게 인터뷰·레시피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6"/>
                        </a:lnSpc>
                        <a:defRPr/>
                      </a:pPr>
                      <a:r>
                        <a:rPr lang="en-US" sz="1777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</a:t>
                      </a:r>
                      <a:endParaRPr lang="en-US" sz="1100"/>
                    </a:p>
                  </a:txBody>
                  <a:tcPr marL="52675" marR="52675" marT="52675" marB="52675" anchor="t">
                    <a:lnL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8373818"/>
            <a:ext cx="16325088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179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메뉴별 판매량은 실데이터가 없어 9·10번 패턴을 반영한 가상 매장 데이터로 시연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8839200"/>
            <a:ext cx="16325088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각 데이터의 제공 범위·기간은 수집 단계에서 확인 / 담당 A~D는 다음 장 · 20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06-1 · 역할 분담 (4명)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15383"/>
            <a:ext cx="16325088" cy="66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묶음별로 나눠 모으고, 하나의 예측 모델로 합친다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249836"/>
            <a:ext cx="7810500" cy="1714348"/>
            <a:chOff x="0" y="0"/>
            <a:chExt cx="10414000" cy="2285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2082546"/>
                  </a:lnTo>
                  <a:cubicBezTo>
                    <a:pt x="10414000" y="2194814"/>
                    <a:pt x="10323068" y="2285746"/>
                    <a:pt x="10210800" y="2285746"/>
                  </a:cubicBezTo>
                  <a:lnTo>
                    <a:pt x="203200" y="2285746"/>
                  </a:lnTo>
                  <a:cubicBezTo>
                    <a:pt x="90932" y="2285746"/>
                    <a:pt x="0" y="2194814"/>
                    <a:pt x="0" y="20825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3249836"/>
            <a:ext cx="7810500" cy="1714348"/>
            <a:chOff x="0" y="0"/>
            <a:chExt cx="10414000" cy="2285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203200">
                  <a:moveTo>
                    <a:pt x="203200" y="2285746"/>
                  </a:moveTo>
                  <a:cubicBezTo>
                    <a:pt x="90932" y="2285746"/>
                    <a:pt x="0" y="2194814"/>
                    <a:pt x="0" y="2082546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ubicBezTo>
                    <a:pt x="161163" y="0"/>
                    <a:pt x="127000" y="90932"/>
                    <a:pt x="127000" y="203200"/>
                  </a:cubicBezTo>
                  <a:lnTo>
                    <a:pt x="127000" y="2082546"/>
                  </a:lnTo>
                  <a:cubicBezTo>
                    <a:pt x="127000" y="2194814"/>
                    <a:pt x="161163" y="2285746"/>
                    <a:pt x="203200" y="2285746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19250" y="3516536"/>
            <a:ext cx="535781" cy="12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E86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94334" y="3468911"/>
            <a:ext cx="6623485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도매가격 담당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4334" y="3863151"/>
            <a:ext cx="662348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① 도매 경락가 · ② 시장·품목 코드 · ⑤ 반입량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94334" y="4301301"/>
            <a:ext cx="6623485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API나 파이썬을 써본 사람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58300" y="3249836"/>
            <a:ext cx="7810500" cy="1714348"/>
            <a:chOff x="0" y="0"/>
            <a:chExt cx="10414000" cy="2285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2082546"/>
                  </a:lnTo>
                  <a:cubicBezTo>
                    <a:pt x="10414000" y="2194814"/>
                    <a:pt x="10323068" y="2285746"/>
                    <a:pt x="10210800" y="2285746"/>
                  </a:cubicBezTo>
                  <a:lnTo>
                    <a:pt x="203200" y="2285746"/>
                  </a:lnTo>
                  <a:cubicBezTo>
                    <a:pt x="90932" y="2285746"/>
                    <a:pt x="0" y="2194814"/>
                    <a:pt x="0" y="20825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58300" y="3249836"/>
            <a:ext cx="7810500" cy="1714348"/>
            <a:chOff x="0" y="0"/>
            <a:chExt cx="10414000" cy="22857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2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203200">
                  <a:moveTo>
                    <a:pt x="203200" y="2285746"/>
                  </a:moveTo>
                  <a:cubicBezTo>
                    <a:pt x="90932" y="2285746"/>
                    <a:pt x="0" y="2194814"/>
                    <a:pt x="0" y="2082546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ubicBezTo>
                    <a:pt x="161163" y="0"/>
                    <a:pt x="127000" y="90932"/>
                    <a:pt x="127000" y="203200"/>
                  </a:cubicBezTo>
                  <a:lnTo>
                    <a:pt x="127000" y="2082546"/>
                  </a:lnTo>
                  <a:cubicBezTo>
                    <a:pt x="127000" y="2194814"/>
                    <a:pt x="161163" y="2285746"/>
                    <a:pt x="203200" y="2285746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58350" y="3516536"/>
            <a:ext cx="566318" cy="12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2F7D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58885" y="3468911"/>
            <a:ext cx="6597272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보조가격·가공품 담당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58885" y="3863151"/>
            <a:ext cx="659727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③ KAMIS 도·소매가 · ⑥ 가공품 단가 · ⑦ 원재료·환율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58885" y="4301301"/>
            <a:ext cx="6597272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엑셀·자료 정리를 잘하는 사람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9200" y="5192784"/>
            <a:ext cx="7810500" cy="1714348"/>
            <a:chOff x="0" y="0"/>
            <a:chExt cx="10414000" cy="22857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140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2082546"/>
                  </a:lnTo>
                  <a:cubicBezTo>
                    <a:pt x="10414000" y="2194814"/>
                    <a:pt x="10323068" y="2285746"/>
                    <a:pt x="10210800" y="2285746"/>
                  </a:cubicBezTo>
                  <a:lnTo>
                    <a:pt x="203200" y="2285746"/>
                  </a:lnTo>
                  <a:cubicBezTo>
                    <a:pt x="90932" y="2285746"/>
                    <a:pt x="0" y="2194814"/>
                    <a:pt x="0" y="20825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9200" y="5192784"/>
            <a:ext cx="7810500" cy="1714348"/>
            <a:chOff x="0" y="0"/>
            <a:chExt cx="10414000" cy="22857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203200">
                  <a:moveTo>
                    <a:pt x="203200" y="2285746"/>
                  </a:moveTo>
                  <a:cubicBezTo>
                    <a:pt x="90932" y="2285746"/>
                    <a:pt x="0" y="2194814"/>
                    <a:pt x="0" y="2082546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ubicBezTo>
                    <a:pt x="161163" y="0"/>
                    <a:pt x="127000" y="90932"/>
                    <a:pt x="127000" y="203200"/>
                  </a:cubicBezTo>
                  <a:lnTo>
                    <a:pt x="127000" y="2082546"/>
                  </a:lnTo>
                  <a:cubicBezTo>
                    <a:pt x="127000" y="2194814"/>
                    <a:pt x="161163" y="2285746"/>
                    <a:pt x="203200" y="2285746"/>
                  </a:cubicBezTo>
                  <a:close/>
                </a:path>
              </a:pathLst>
            </a:custGeom>
            <a:solidFill>
              <a:srgbClr val="8FA8A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19250" y="5459484"/>
            <a:ext cx="544887" cy="12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01926" y="5411859"/>
            <a:ext cx="6615665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외부요인 담당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01926" y="5806108"/>
            <a:ext cx="66156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④ 산지 날씨 · ⑧ 달력 변수 · KREI 농업관측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01926" y="6244258"/>
            <a:ext cx="6615665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분석·시각화에 관심 있는 사람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8300" y="5192784"/>
            <a:ext cx="7810500" cy="1714348"/>
            <a:chOff x="0" y="0"/>
            <a:chExt cx="10414000" cy="2285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140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2082546"/>
                  </a:lnTo>
                  <a:cubicBezTo>
                    <a:pt x="10414000" y="2194814"/>
                    <a:pt x="10323068" y="2285746"/>
                    <a:pt x="10210800" y="2285746"/>
                  </a:cubicBezTo>
                  <a:lnTo>
                    <a:pt x="203200" y="2285746"/>
                  </a:lnTo>
                  <a:cubicBezTo>
                    <a:pt x="90932" y="2285746"/>
                    <a:pt x="0" y="2194814"/>
                    <a:pt x="0" y="2082546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258300" y="5192784"/>
            <a:ext cx="7810500" cy="1714348"/>
            <a:chOff x="0" y="0"/>
            <a:chExt cx="10414000" cy="22857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200" cy="2285746"/>
            </a:xfrm>
            <a:custGeom>
              <a:avLst/>
              <a:gdLst/>
              <a:ahLst/>
              <a:cxnLst/>
              <a:rect r="r" b="b" t="t" l="l"/>
              <a:pathLst>
                <a:path h="2285746" w="203200">
                  <a:moveTo>
                    <a:pt x="203200" y="2285746"/>
                  </a:moveTo>
                  <a:cubicBezTo>
                    <a:pt x="90932" y="2285746"/>
                    <a:pt x="0" y="2194814"/>
                    <a:pt x="0" y="2082546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ubicBezTo>
                    <a:pt x="161163" y="0"/>
                    <a:pt x="127000" y="90932"/>
                    <a:pt x="127000" y="203200"/>
                  </a:cubicBezTo>
                  <a:lnTo>
                    <a:pt x="127000" y="2082546"/>
                  </a:lnTo>
                  <a:cubicBezTo>
                    <a:pt x="127000" y="2194814"/>
                    <a:pt x="161163" y="2285746"/>
                    <a:pt x="203200" y="2285746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58350" y="5459484"/>
            <a:ext cx="594179" cy="12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2B2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2098" y="5411859"/>
            <a:ext cx="6573355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수요·운영 담당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82098" y="5806108"/>
            <a:ext cx="657335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⑨ 수요 요인 · ⑩ 레시피·보관·구매단위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82098" y="6244258"/>
            <a:ext cx="6573355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기획·인터뷰·발표를 맡을 사람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19200" y="7211932"/>
            <a:ext cx="15849600" cy="914400"/>
            <a:chOff x="0" y="0"/>
            <a:chExt cx="211328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13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1328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90932"/>
                    <a:pt x="21132800" y="203200"/>
                  </a:cubicBezTo>
                  <a:lnTo>
                    <a:pt x="21132800" y="1016000"/>
                  </a:lnTo>
                  <a:cubicBezTo>
                    <a:pt x="21132800" y="1128268"/>
                    <a:pt x="21041868" y="1219200"/>
                    <a:pt x="209296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4000" y="7440532"/>
            <a:ext cx="457200" cy="457200"/>
            <a:chOff x="0" y="0"/>
            <a:chExt cx="609600" cy="609600"/>
          </a:xfrm>
        </p:grpSpPr>
        <p:sp>
          <p:nvSpPr>
            <p:cNvPr name="Freeform 39" id="39" descr="Chart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171700" y="7359569"/>
            <a:ext cx="1280499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195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A·B·C의 가격·외부요인 + D의 수요·레시피 → 수요예측·발주·XAI 모델로 통합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0652" y="1577283"/>
            <a:ext cx="5263046" cy="7894568"/>
          </a:xfrm>
          <a:custGeom>
            <a:avLst/>
            <a:gdLst/>
            <a:ahLst/>
            <a:cxnLst/>
            <a:rect r="r" b="b" t="t" l="l"/>
            <a:pathLst>
              <a:path h="7894568" w="5263046">
                <a:moveTo>
                  <a:pt x="0" y="0"/>
                </a:moveTo>
                <a:lnTo>
                  <a:pt x="5263046" y="0"/>
                </a:lnTo>
                <a:lnTo>
                  <a:pt x="5263046" y="7894568"/>
                </a:lnTo>
                <a:lnTo>
                  <a:pt x="0" y="7894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 · 검증 계획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1586808"/>
            <a:ext cx="11621452" cy="83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예측이 맞았는지, 발주가 나아졌는지 함께 확인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3119454"/>
            <a:ext cx="7463549" cy="2811370"/>
            <a:chOff x="0" y="0"/>
            <a:chExt cx="9951399" cy="3748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951399" cy="3748493"/>
              <a:chOff x="0" y="0"/>
              <a:chExt cx="13012338" cy="49014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012364" cy="4901445"/>
              </a:xfrm>
              <a:custGeom>
                <a:avLst/>
                <a:gdLst/>
                <a:ahLst/>
                <a:cxnLst/>
                <a:rect r="r" b="b" t="t" l="l"/>
                <a:pathLst>
                  <a:path h="4901445" w="13012364">
                    <a:moveTo>
                      <a:pt x="0" y="280435"/>
                    </a:moveTo>
                    <a:cubicBezTo>
                      <a:pt x="0" y="125495"/>
                      <a:pt x="218365" y="0"/>
                      <a:pt x="487968" y="0"/>
                    </a:cubicBezTo>
                    <a:lnTo>
                      <a:pt x="12524420" y="0"/>
                    </a:lnTo>
                    <a:cubicBezTo>
                      <a:pt x="12793777" y="0"/>
                      <a:pt x="13012364" y="125495"/>
                      <a:pt x="13012364" y="280435"/>
                    </a:cubicBezTo>
                    <a:lnTo>
                      <a:pt x="13012364" y="4621010"/>
                    </a:lnTo>
                    <a:cubicBezTo>
                      <a:pt x="13012364" y="4775810"/>
                      <a:pt x="12794021" y="4901445"/>
                      <a:pt x="12524420" y="4901445"/>
                    </a:cubicBezTo>
                    <a:lnTo>
                      <a:pt x="487968" y="4901445"/>
                    </a:lnTo>
                    <a:cubicBezTo>
                      <a:pt x="218609" y="4901445"/>
                      <a:pt x="0" y="4775950"/>
                      <a:pt x="0" y="4621010"/>
                    </a:cubicBezTo>
                    <a:close/>
                  </a:path>
                </a:pathLst>
              </a:custGeom>
              <a:solidFill>
                <a:srgbClr val="FFFDF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9951399" cy="3748493"/>
              <a:chOff x="0" y="0"/>
              <a:chExt cx="13012338" cy="490148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012364" cy="280435"/>
              </a:xfrm>
              <a:custGeom>
                <a:avLst/>
                <a:gdLst/>
                <a:ahLst/>
                <a:cxnLst/>
                <a:rect r="r" b="b" t="t" l="l"/>
                <a:pathLst>
                  <a:path h="280435" w="13012364">
                    <a:moveTo>
                      <a:pt x="0" y="280435"/>
                    </a:moveTo>
                    <a:cubicBezTo>
                      <a:pt x="0" y="125495"/>
                      <a:pt x="218365" y="0"/>
                      <a:pt x="487968" y="0"/>
                    </a:cubicBezTo>
                    <a:lnTo>
                      <a:pt x="12524420" y="0"/>
                    </a:lnTo>
                    <a:cubicBezTo>
                      <a:pt x="12653731" y="0"/>
                      <a:pt x="12777919" y="29586"/>
                      <a:pt x="12869413" y="82167"/>
                    </a:cubicBezTo>
                    <a:cubicBezTo>
                      <a:pt x="12960907" y="134749"/>
                      <a:pt x="13012364" y="206120"/>
                      <a:pt x="13012364" y="280435"/>
                    </a:cubicBezTo>
                    <a:cubicBezTo>
                      <a:pt x="13012364" y="187471"/>
                      <a:pt x="12794021" y="112174"/>
                      <a:pt x="12524420" y="112174"/>
                    </a:cubicBezTo>
                    <a:lnTo>
                      <a:pt x="487968" y="112174"/>
                    </a:lnTo>
                    <a:cubicBezTo>
                      <a:pt x="218365" y="112174"/>
                      <a:pt x="0" y="187471"/>
                      <a:pt x="0" y="280435"/>
                    </a:cubicBezTo>
                    <a:close/>
                  </a:path>
                </a:pathLst>
              </a:custGeom>
              <a:solidFill>
                <a:srgbClr val="8FA8A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820999" y="466952"/>
              <a:ext cx="8558687" cy="44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3"/>
                </a:lnSpc>
              </a:pPr>
              <a:r>
                <a:rPr lang="en-US" b="true" sz="2064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무엇과 비교하나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13560" y="910008"/>
              <a:ext cx="8934005" cy="1934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1950" indent="-180975" lvl="1">
                <a:lnSpc>
                  <a:spcPts val="4080"/>
                </a:lnSpc>
                <a:buFont typeface="Arial"/>
                <a:buChar char="•"/>
              </a:pPr>
              <a:r>
                <a:rPr lang="en-US" sz="2000">
                  <a:solidFill>
                    <a:srgbClr val="3A4743"/>
                  </a:solidFill>
                  <a:latin typeface="Noto Sans"/>
                  <a:ea typeface="Noto Sans"/>
                  <a:cs typeface="Noto Sans"/>
                  <a:sym typeface="Noto Sans"/>
                </a:rPr>
                <a:t>지난주 같은 요일만큼 주문</a:t>
              </a:r>
            </a:p>
            <a:p>
              <a:pPr algn="l" marL="361950" indent="-180975" lvl="1">
                <a:lnSpc>
                  <a:spcPts val="4080"/>
                </a:lnSpc>
                <a:buFont typeface="Arial"/>
                <a:buChar char="•"/>
              </a:pPr>
              <a:r>
                <a:rPr lang="en-US" sz="2000">
                  <a:solidFill>
                    <a:srgbClr val="3A4743"/>
                  </a:solidFill>
                  <a:latin typeface="Noto Sans"/>
                  <a:ea typeface="Noto Sans"/>
                  <a:cs typeface="Noto Sans"/>
                  <a:sym typeface="Noto Sans"/>
                </a:rPr>
                <a:t>일반적인 머신러닝 예측</a:t>
              </a:r>
            </a:p>
            <a:p>
              <a:pPr algn="l" marL="361950" indent="-180975" lvl="1">
                <a:lnSpc>
                  <a:spcPts val="4080"/>
                </a:lnSpc>
                <a:buFont typeface="Arial"/>
                <a:buChar char="•"/>
              </a:pPr>
              <a:r>
                <a:rPr lang="en-US" sz="2000">
                  <a:solidFill>
                    <a:srgbClr val="3A4743"/>
                  </a:solidFill>
                  <a:latin typeface="Noto Sans"/>
                  <a:ea typeface="Noto Sans"/>
                  <a:cs typeface="Noto Sans"/>
                  <a:sym typeface="Noto Sans"/>
                </a:rPr>
                <a:t>매번 같은 양을 주문하는 방식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2755" y="6314430"/>
            <a:ext cx="7449994" cy="2529355"/>
            <a:chOff x="0" y="0"/>
            <a:chExt cx="9933325" cy="337247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33325" cy="3372474"/>
              <a:chOff x="0" y="0"/>
              <a:chExt cx="13590867" cy="461424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590893" cy="4614210"/>
              </a:xfrm>
              <a:custGeom>
                <a:avLst/>
                <a:gdLst/>
                <a:ahLst/>
                <a:cxnLst/>
                <a:rect r="r" b="b" t="t" l="l"/>
                <a:pathLst>
                  <a:path h="4614210" w="13590893">
                    <a:moveTo>
                      <a:pt x="0" y="264001"/>
                    </a:moveTo>
                    <a:cubicBezTo>
                      <a:pt x="0" y="118140"/>
                      <a:pt x="228074" y="0"/>
                      <a:pt x="509663" y="0"/>
                    </a:cubicBezTo>
                    <a:lnTo>
                      <a:pt x="13081256" y="0"/>
                    </a:lnTo>
                    <a:cubicBezTo>
                      <a:pt x="13362589" y="0"/>
                      <a:pt x="13590893" y="118140"/>
                      <a:pt x="13590893" y="264001"/>
                    </a:cubicBezTo>
                    <a:lnTo>
                      <a:pt x="13590893" y="4350209"/>
                    </a:lnTo>
                    <a:cubicBezTo>
                      <a:pt x="13590893" y="4495938"/>
                      <a:pt x="13362845" y="4614210"/>
                      <a:pt x="13081256" y="4614210"/>
                    </a:cubicBezTo>
                    <a:lnTo>
                      <a:pt x="509663" y="4614210"/>
                    </a:lnTo>
                    <a:cubicBezTo>
                      <a:pt x="228329" y="4614210"/>
                      <a:pt x="0" y="4496069"/>
                      <a:pt x="0" y="4350209"/>
                    </a:cubicBezTo>
                    <a:close/>
                  </a:path>
                </a:pathLst>
              </a:custGeom>
              <a:solidFill>
                <a:srgbClr val="0F2B2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19508" y="360792"/>
              <a:ext cx="8543143" cy="440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1"/>
                </a:lnSpc>
              </a:pPr>
              <a:r>
                <a:rPr lang="en-US" b="true" sz="1973">
                  <a:solidFill>
                    <a:srgbClr val="F2A06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발주가 나아졌나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11719" y="778732"/>
              <a:ext cx="8328581" cy="1977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8257" indent="-184128" lvl="1">
                <a:lnSpc>
                  <a:spcPts val="4151"/>
                </a:lnSpc>
                <a:buFont typeface="Arial"/>
                <a:buChar char="•"/>
              </a:pPr>
              <a:r>
                <a:rPr lang="en-US" sz="2034">
                  <a:solidFill>
                    <a:srgbClr val="F6F4EE"/>
                  </a:solidFill>
                  <a:latin typeface="Noto Sans"/>
                  <a:ea typeface="Noto Sans"/>
                  <a:cs typeface="Noto Sans"/>
                  <a:sym typeface="Noto Sans"/>
                </a:rPr>
                <a:t>재료가 떨어진 날 수</a:t>
              </a:r>
            </a:p>
            <a:p>
              <a:pPr algn="l" marL="368257" indent="-184128" lvl="1">
                <a:lnSpc>
                  <a:spcPts val="4151"/>
                </a:lnSpc>
                <a:buFont typeface="Arial"/>
                <a:buChar char="•"/>
              </a:pPr>
              <a:r>
                <a:rPr lang="en-US" sz="2034">
                  <a:solidFill>
                    <a:srgbClr val="F6F4EE"/>
                  </a:solidFill>
                  <a:latin typeface="Noto Sans"/>
                  <a:ea typeface="Noto Sans"/>
                  <a:cs typeface="Noto Sans"/>
                  <a:sym typeface="Noto Sans"/>
                </a:rPr>
                <a:t>버린 양 · 남은 재고</a:t>
              </a:r>
            </a:p>
            <a:p>
              <a:pPr algn="l" marL="368257" indent="-184128" lvl="1">
                <a:lnSpc>
                  <a:spcPts val="4151"/>
                </a:lnSpc>
                <a:buFont typeface="Arial"/>
                <a:buChar char="•"/>
              </a:pPr>
              <a:r>
                <a:rPr lang="en-US" sz="2034">
                  <a:solidFill>
                    <a:srgbClr val="F6F4EE"/>
                  </a:solidFill>
                  <a:latin typeface="Noto Sans"/>
                  <a:ea typeface="Noto Sans"/>
                  <a:cs typeface="Noto Sans"/>
                  <a:sym typeface="Noto Sans"/>
                </a:rPr>
                <a:t>총 구매 비용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 · 기대 효과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586808"/>
            <a:ext cx="16325088" cy="87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b="true" sz="4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자영업자는 원가를, CJ프레시웨이는 지역 수요를 얻는다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728464"/>
            <a:ext cx="7772400" cy="3470672"/>
            <a:chOff x="0" y="0"/>
            <a:chExt cx="10363200" cy="46275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3200" cy="4627499"/>
            </a:xfrm>
            <a:custGeom>
              <a:avLst/>
              <a:gdLst/>
              <a:ahLst/>
              <a:cxnLst/>
              <a:rect r="r" b="b" t="t" l="l"/>
              <a:pathLst>
                <a:path h="4627499" w="10363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09200" y="0"/>
                  </a:lnTo>
                  <a:cubicBezTo>
                    <a:pt x="10249535" y="0"/>
                    <a:pt x="10363200" y="113665"/>
                    <a:pt x="10363200" y="254000"/>
                  </a:cubicBezTo>
                  <a:lnTo>
                    <a:pt x="10363200" y="4373499"/>
                  </a:lnTo>
                  <a:cubicBezTo>
                    <a:pt x="10363200" y="4513834"/>
                    <a:pt x="10249535" y="4627499"/>
                    <a:pt x="10109200" y="4627499"/>
                  </a:cubicBezTo>
                  <a:lnTo>
                    <a:pt x="254000" y="4627499"/>
                  </a:lnTo>
                  <a:cubicBezTo>
                    <a:pt x="113665" y="4627499"/>
                    <a:pt x="0" y="4513834"/>
                    <a:pt x="0" y="4373499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3728464"/>
            <a:ext cx="7772400" cy="3470672"/>
            <a:chOff x="0" y="0"/>
            <a:chExt cx="10363200" cy="4627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3200" cy="254000"/>
            </a:xfrm>
            <a:custGeom>
              <a:avLst/>
              <a:gdLst/>
              <a:ahLst/>
              <a:cxnLst/>
              <a:rect r="r" b="b" t="t" l="l"/>
              <a:pathLst>
                <a:path h="254000" w="10363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09200" y="0"/>
                  </a:lnTo>
                  <a:cubicBezTo>
                    <a:pt x="10176510" y="0"/>
                    <a:pt x="10241153" y="26797"/>
                    <a:pt x="10288778" y="74422"/>
                  </a:cubicBezTo>
                  <a:cubicBezTo>
                    <a:pt x="10336403" y="122047"/>
                    <a:pt x="10363200" y="186690"/>
                    <a:pt x="10363200" y="254000"/>
                  </a:cubicBezTo>
                  <a:cubicBezTo>
                    <a:pt x="10363200" y="169799"/>
                    <a:pt x="10249535" y="101600"/>
                    <a:pt x="10109200" y="101600"/>
                  </a:cubicBezTo>
                  <a:lnTo>
                    <a:pt x="254000" y="101600"/>
                  </a:lnTo>
                  <a:cubicBezTo>
                    <a:pt x="113665" y="101600"/>
                    <a:pt x="0" y="169799"/>
                    <a:pt x="0" y="2540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76400" y="4195189"/>
            <a:ext cx="706374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자영업자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4698" y="4766689"/>
            <a:ext cx="6954012" cy="201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시장가 vs 실구매가 비교로 구매 의사결정 개선</a:t>
            </a:r>
          </a:p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성수기 재고 부족 · 과잉 발주 위험 감소</a:t>
            </a:r>
          </a:p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구매처 탐색 · 가격 조사 시간 절감</a:t>
            </a:r>
          </a:p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원가 변동 대응력 향상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96400" y="3728464"/>
            <a:ext cx="7772400" cy="3470672"/>
            <a:chOff x="0" y="0"/>
            <a:chExt cx="10363200" cy="46275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3200" cy="4627499"/>
            </a:xfrm>
            <a:custGeom>
              <a:avLst/>
              <a:gdLst/>
              <a:ahLst/>
              <a:cxnLst/>
              <a:rect r="r" b="b" t="t" l="l"/>
              <a:pathLst>
                <a:path h="4627499" w="10363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09200" y="0"/>
                  </a:lnTo>
                  <a:cubicBezTo>
                    <a:pt x="10249535" y="0"/>
                    <a:pt x="10363200" y="113665"/>
                    <a:pt x="10363200" y="254000"/>
                  </a:cubicBezTo>
                  <a:lnTo>
                    <a:pt x="10363200" y="4373499"/>
                  </a:lnTo>
                  <a:cubicBezTo>
                    <a:pt x="10363200" y="4513834"/>
                    <a:pt x="10249535" y="4627499"/>
                    <a:pt x="10109200" y="4627499"/>
                  </a:cubicBezTo>
                  <a:lnTo>
                    <a:pt x="254000" y="4627499"/>
                  </a:lnTo>
                  <a:cubicBezTo>
                    <a:pt x="113665" y="4627499"/>
                    <a:pt x="0" y="4513834"/>
                    <a:pt x="0" y="4373499"/>
                  </a:cubicBezTo>
                  <a:close/>
                </a:path>
              </a:pathLst>
            </a:custGeom>
            <a:solidFill>
              <a:srgbClr val="0F2B2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53600" y="4118989"/>
            <a:ext cx="2121545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F2A06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CJ프레시웨이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51898" y="4690489"/>
            <a:ext cx="6954012" cy="201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대구 구매 수요 · 가격 동향 데이터 확보</a:t>
            </a:r>
          </a:p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자영업자 대상 구매 · 발주 지원 서비스 확대</a:t>
            </a:r>
          </a:p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식봄으로의 상품 탐색 · 구매 전환 기회</a:t>
            </a:r>
          </a:p>
          <a:p>
            <a:pPr algn="l" marL="380048" indent="-190024" lvl="1">
              <a:lnSpc>
                <a:spcPts val="4284"/>
              </a:lnSpc>
              <a:buFont typeface="Arial"/>
              <a:buChar char="•"/>
            </a:pPr>
            <a:r>
              <a:rPr lang="en-US" sz="2100">
                <a:solidFill>
                  <a:srgbClr val="C9D8D2"/>
                </a:solidFill>
                <a:latin typeface="Noto Sans"/>
                <a:ea typeface="Noto Sans"/>
                <a:cs typeface="Noto Sans"/>
                <a:sym typeface="Noto Sans"/>
              </a:rPr>
              <a:t>지역 공급처–수요처 연결로 B2B 생태계 강화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6837" y="7399161"/>
            <a:ext cx="12301625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측정 방법: 가상 매장 백테스트에서 결품 일수 · 폐기량 · 구매단가를 ‘경험 기반 발주’와 비교 (정량 효과는 실험 후 제시)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43000"/>
            <a:ext cx="16325088" cy="42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b="true" sz="1794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· 한계와 대응 — 가격 비교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07791"/>
            <a:ext cx="16325088" cy="11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우리 가격 분석의 한계: </a:t>
            </a:r>
          </a:p>
          <a:p>
            <a:pPr algn="l">
              <a:lnSpc>
                <a:spcPts val="4609"/>
              </a:lnSpc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도매시장 시세는 ‘국산 원물’ 가격 식당 구매가와 그대로 비교할 수 없다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6819" y="3261122"/>
            <a:ext cx="8129588" cy="5504259"/>
            <a:chOff x="0" y="0"/>
            <a:chExt cx="10839450" cy="73390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39450" cy="7339076"/>
            </a:xfrm>
            <a:custGeom>
              <a:avLst/>
              <a:gdLst/>
              <a:ahLst/>
              <a:cxnLst/>
              <a:rect r="r" b="b" t="t" l="l"/>
              <a:pathLst>
                <a:path h="7339076" w="1083945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10591165" y="0"/>
                  </a:lnTo>
                  <a:cubicBezTo>
                    <a:pt x="10728325" y="0"/>
                    <a:pt x="10839450" y="111125"/>
                    <a:pt x="10839450" y="248285"/>
                  </a:cubicBezTo>
                  <a:lnTo>
                    <a:pt x="10839450" y="7090791"/>
                  </a:lnTo>
                  <a:cubicBezTo>
                    <a:pt x="10839450" y="7227951"/>
                    <a:pt x="10728325" y="7339076"/>
                    <a:pt x="10591165" y="7339076"/>
                  </a:cubicBezTo>
                  <a:lnTo>
                    <a:pt x="248285" y="7339076"/>
                  </a:lnTo>
                  <a:cubicBezTo>
                    <a:pt x="111125" y="7338949"/>
                    <a:pt x="0" y="7227824"/>
                    <a:pt x="0" y="7090791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9725" y="3558778"/>
            <a:ext cx="7564088" cy="53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외식업체 품목별 국산 구입 비중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9725" y="4128345"/>
            <a:ext cx="7564088" cy="43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179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2023 조사 · 전체 평균 84.4%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9725" y="4599232"/>
            <a:ext cx="2886970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양파·배추·무·대파·감자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98537" y="4599232"/>
            <a:ext cx="1154963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96% 이상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9725" y="5050336"/>
            <a:ext cx="5486400" cy="114300"/>
            <a:chOff x="0" y="0"/>
            <a:chExt cx="7315200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152400"/>
            </a:xfrm>
            <a:custGeom>
              <a:avLst/>
              <a:gdLst/>
              <a:ahLst/>
              <a:cxnLst/>
              <a:rect r="r" b="b" t="t" l="l"/>
              <a:pathLst>
                <a:path h="152400" w="7315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cubicBezTo>
                    <a:pt x="7315200" y="118237"/>
                    <a:pt x="7281037" y="152400"/>
                    <a:pt x="72390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F7D5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09725" y="5240836"/>
            <a:ext cx="1415891" cy="4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닭고기·마늘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9975" y="5240836"/>
            <a:ext cx="1073525" cy="4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82~84%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09725" y="5691788"/>
            <a:ext cx="4686300" cy="114300"/>
            <a:chOff x="0" y="0"/>
            <a:chExt cx="6248400" cy="15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48400" cy="152400"/>
            </a:xfrm>
            <a:custGeom>
              <a:avLst/>
              <a:gdLst/>
              <a:ahLst/>
              <a:cxnLst/>
              <a:rect r="r" b="b" t="t" l="l"/>
              <a:pathLst>
                <a:path h="152400" w="6248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172200" y="0"/>
                  </a:lnTo>
                  <a:cubicBezTo>
                    <a:pt x="6214237" y="0"/>
                    <a:pt x="6248400" y="34163"/>
                    <a:pt x="6248400" y="76200"/>
                  </a:cubicBezTo>
                  <a:cubicBezTo>
                    <a:pt x="6248400" y="118237"/>
                    <a:pt x="6214237" y="152400"/>
                    <a:pt x="61722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8FA8A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09725" y="5882288"/>
            <a:ext cx="1668247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당근·돼지고기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79975" y="5882288"/>
            <a:ext cx="1073525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74~79%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09725" y="6333382"/>
            <a:ext cx="4229100" cy="114300"/>
            <a:chOff x="0" y="0"/>
            <a:chExt cx="5638800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38800" cy="152400"/>
            </a:xfrm>
            <a:custGeom>
              <a:avLst/>
              <a:gdLst/>
              <a:ahLst/>
              <a:cxnLst/>
              <a:rect r="r" b="b" t="t" l="l"/>
              <a:pathLst>
                <a:path h="152400" w="56388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5562600" y="0"/>
                  </a:lnTo>
                  <a:cubicBezTo>
                    <a:pt x="5604637" y="0"/>
                    <a:pt x="5638800" y="34163"/>
                    <a:pt x="5638800" y="76200"/>
                  </a:cubicBezTo>
                  <a:cubicBezTo>
                    <a:pt x="5638800" y="118237"/>
                    <a:pt x="5604637" y="152400"/>
                    <a:pt x="55626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8FA8A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09725" y="6523882"/>
            <a:ext cx="504882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김치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4462" y="6523882"/>
            <a:ext cx="839038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51.4%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09725" y="6974977"/>
            <a:ext cx="2933700" cy="114300"/>
            <a:chOff x="0" y="0"/>
            <a:chExt cx="3911600" cy="152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11600" cy="152400"/>
            </a:xfrm>
            <a:custGeom>
              <a:avLst/>
              <a:gdLst/>
              <a:ahLst/>
              <a:cxnLst/>
              <a:rect r="r" b="b" t="t" l="l"/>
              <a:pathLst>
                <a:path h="152400" w="3911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835400" y="0"/>
                  </a:lnTo>
                  <a:cubicBezTo>
                    <a:pt x="3877437" y="0"/>
                    <a:pt x="3911600" y="34163"/>
                    <a:pt x="3911600" y="76200"/>
                  </a:cubicBezTo>
                  <a:cubicBezTo>
                    <a:pt x="3911600" y="118237"/>
                    <a:pt x="3877437" y="152400"/>
                    <a:pt x="38354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09725" y="7165477"/>
            <a:ext cx="2518353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고춧가루(건고추 포함)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14462" y="7165477"/>
            <a:ext cx="839038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49.2%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09725" y="7616581"/>
            <a:ext cx="2809875" cy="114300"/>
            <a:chOff x="0" y="0"/>
            <a:chExt cx="3746500" cy="15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46500" cy="152400"/>
            </a:xfrm>
            <a:custGeom>
              <a:avLst/>
              <a:gdLst/>
              <a:ahLst/>
              <a:cxnLst/>
              <a:rect r="r" b="b" t="t" l="l"/>
              <a:pathLst>
                <a:path h="152400" w="37465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670300" y="0"/>
                  </a:lnTo>
                  <a:cubicBezTo>
                    <a:pt x="3712337" y="0"/>
                    <a:pt x="3746500" y="34163"/>
                    <a:pt x="3746500" y="76200"/>
                  </a:cubicBezTo>
                  <a:cubicBezTo>
                    <a:pt x="3746500" y="118237"/>
                    <a:pt x="3712337" y="152400"/>
                    <a:pt x="36703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09725" y="7807081"/>
            <a:ext cx="757238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소고기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14462" y="7807081"/>
            <a:ext cx="839038" cy="43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b="true" sz="1800">
                <a:solidFill>
                  <a:srgbClr val="B4481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31.7%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609725" y="8258175"/>
            <a:ext cx="1809750" cy="114300"/>
            <a:chOff x="0" y="0"/>
            <a:chExt cx="2413000" cy="15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13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13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336800" y="0"/>
                  </a:lnTo>
                  <a:cubicBezTo>
                    <a:pt x="2378837" y="0"/>
                    <a:pt x="2413000" y="34163"/>
                    <a:pt x="2413000" y="76200"/>
                  </a:cubicBezTo>
                  <a:cubicBezTo>
                    <a:pt x="2413000" y="118237"/>
                    <a:pt x="2378837" y="152400"/>
                    <a:pt x="2336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725025" y="3158728"/>
            <a:ext cx="7564088" cy="53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b="true" sz="222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그래서 이렇게 대응한다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25025" y="3841699"/>
            <a:ext cx="7343775" cy="1507036"/>
            <a:chOff x="0" y="0"/>
            <a:chExt cx="9791700" cy="20093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91700" cy="2009394"/>
            </a:xfrm>
            <a:custGeom>
              <a:avLst/>
              <a:gdLst/>
              <a:ahLst/>
              <a:cxnLst/>
              <a:rect r="r" b="b" t="t" l="l"/>
              <a:pathLst>
                <a:path h="2009394" w="97917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9588500" y="0"/>
                  </a:lnTo>
                  <a:cubicBezTo>
                    <a:pt x="9700768" y="0"/>
                    <a:pt x="9791700" y="90932"/>
                    <a:pt x="9791700" y="203200"/>
                  </a:cubicBezTo>
                  <a:lnTo>
                    <a:pt x="9791700" y="1806194"/>
                  </a:lnTo>
                  <a:cubicBezTo>
                    <a:pt x="9791700" y="1918462"/>
                    <a:pt x="9700768" y="2009394"/>
                    <a:pt x="9588500" y="2009394"/>
                  </a:cubicBezTo>
                  <a:lnTo>
                    <a:pt x="203200" y="2009394"/>
                  </a:lnTo>
                  <a:cubicBezTo>
                    <a:pt x="90932" y="2009394"/>
                    <a:pt x="0" y="1918462"/>
                    <a:pt x="0" y="1806194"/>
                  </a:cubicBezTo>
                  <a:close/>
                </a:path>
              </a:pathLst>
            </a:custGeom>
            <a:solidFill>
              <a:srgbClr val="E6EFEA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029825" y="3984574"/>
            <a:ext cx="6936200" cy="41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215">
                <a:solidFill>
                  <a:srgbClr val="1F5E4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① 비교 품목을 한정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29825" y="4335218"/>
            <a:ext cx="6936200" cy="86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1882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국산 비중이 높은 원물 채소(양파·배추·무·대파·감자 등)만 도매시장 시세와 비교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725025" y="5539235"/>
            <a:ext cx="7343775" cy="1507179"/>
            <a:chOff x="0" y="0"/>
            <a:chExt cx="9791700" cy="20095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91700" cy="2009521"/>
            </a:xfrm>
            <a:custGeom>
              <a:avLst/>
              <a:gdLst/>
              <a:ahLst/>
              <a:cxnLst/>
              <a:rect r="r" b="b" t="t" l="l"/>
              <a:pathLst>
                <a:path h="2009521" w="97917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9588500" y="0"/>
                  </a:lnTo>
                  <a:cubicBezTo>
                    <a:pt x="9700768" y="0"/>
                    <a:pt x="9791700" y="90932"/>
                    <a:pt x="9791700" y="203200"/>
                  </a:cubicBezTo>
                  <a:lnTo>
                    <a:pt x="9791700" y="1806321"/>
                  </a:lnTo>
                  <a:cubicBezTo>
                    <a:pt x="9791700" y="1918589"/>
                    <a:pt x="9700768" y="2009521"/>
                    <a:pt x="9588500" y="2009521"/>
                  </a:cubicBezTo>
                  <a:lnTo>
                    <a:pt x="203200" y="2009521"/>
                  </a:lnTo>
                  <a:cubicBezTo>
                    <a:pt x="90932" y="2009521"/>
                    <a:pt x="0" y="1918589"/>
                    <a:pt x="0" y="1806321"/>
                  </a:cubicBezTo>
                  <a:close/>
                </a:path>
              </a:pathLst>
            </a:custGeom>
            <a:solidFill>
              <a:srgbClr val="FBE3D3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029825" y="5682110"/>
            <a:ext cx="6936200" cy="41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215">
                <a:solidFill>
                  <a:srgbClr val="9A3C1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② 수입 의존 품목은 따로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29825" y="6032744"/>
            <a:ext cx="6936200" cy="86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1882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김치·고춧가루·소고기는 시세 비교에서 빼고, 실제 구매가의 변화만 추적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722644" y="7234533"/>
            <a:ext cx="7348538" cy="1530848"/>
            <a:chOff x="0" y="0"/>
            <a:chExt cx="9798050" cy="20411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98050" cy="2041144"/>
            </a:xfrm>
            <a:custGeom>
              <a:avLst/>
              <a:gdLst/>
              <a:ahLst/>
              <a:cxnLst/>
              <a:rect r="r" b="b" t="t" l="l"/>
              <a:pathLst>
                <a:path h="2041144" w="9798050">
                  <a:moveTo>
                    <a:pt x="0" y="198755"/>
                  </a:moveTo>
                  <a:cubicBezTo>
                    <a:pt x="0" y="88900"/>
                    <a:pt x="88900" y="0"/>
                    <a:pt x="198755" y="0"/>
                  </a:cubicBezTo>
                  <a:lnTo>
                    <a:pt x="9599295" y="0"/>
                  </a:lnTo>
                  <a:cubicBezTo>
                    <a:pt x="9709023" y="0"/>
                    <a:pt x="9798050" y="88900"/>
                    <a:pt x="9798050" y="198755"/>
                  </a:cubicBezTo>
                  <a:lnTo>
                    <a:pt x="9798050" y="1842389"/>
                  </a:lnTo>
                  <a:cubicBezTo>
                    <a:pt x="9798050" y="1952117"/>
                    <a:pt x="9709150" y="2041144"/>
                    <a:pt x="9599295" y="2041144"/>
                  </a:cubicBezTo>
                  <a:lnTo>
                    <a:pt x="198755" y="2041144"/>
                  </a:lnTo>
                  <a:cubicBezTo>
                    <a:pt x="88900" y="2041144"/>
                    <a:pt x="0" y="1952117"/>
                    <a:pt x="0" y="1842389"/>
                  </a:cubicBezTo>
                  <a:close/>
                </a:path>
              </a:pathLst>
            </a:custGeom>
            <a:solidFill>
              <a:srgbClr val="FFFDF8"/>
            </a:solidFill>
            <a:ln w="14288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039350" y="7389314"/>
            <a:ext cx="6916579" cy="41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215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③ 같은 조건끼리만 비교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39350" y="7739958"/>
            <a:ext cx="6916579" cy="86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1882">
                <a:solidFill>
                  <a:srgbClr val="3A4743"/>
                </a:solidFill>
                <a:latin typeface="Noto Sans"/>
                <a:ea typeface="Noto Sans"/>
                <a:cs typeface="Noto Sans"/>
                <a:sym typeface="Noto Sans"/>
              </a:rPr>
              <a:t>판매가를 모을 때 원산지·형태(원물/손질/가공)·등급·포장 단위를 함께 기록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9200" y="9281217"/>
            <a:ext cx="16325088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출처: 한국농촌경제연구원 「2023 외식업체 경영실태조사」 주요 결과(2024), 더바이어(2024.5) · 25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28600" cy="10287000"/>
            <a:chOff x="0" y="0"/>
            <a:chExt cx="304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672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40948" y="2524650"/>
            <a:ext cx="16325088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600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사장님은 메뉴로 생각하고,</a:t>
            </a:r>
          </a:p>
          <a:p>
            <a:pPr algn="l">
              <a:lnSpc>
                <a:spcPts val="9000"/>
              </a:lnSpc>
            </a:pPr>
            <a:r>
              <a:rPr lang="en-US" b="true" sz="600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시장은 식자재로 움직입니다.</a:t>
            </a:r>
          </a:p>
        </p:txBody>
      </p:sp>
      <p:sp>
        <p:nvSpPr>
          <p:cNvPr name="AutoShape 5" id="5"/>
          <p:cNvSpPr/>
          <p:nvPr/>
        </p:nvSpPr>
        <p:spPr>
          <a:xfrm>
            <a:off x="1219199" y="5395018"/>
            <a:ext cx="1" cy="395477"/>
          </a:xfrm>
          <a:prstGeom prst="line">
            <a:avLst/>
          </a:prstGeom>
          <a:ln cap="rnd" w="28575">
            <a:solidFill>
              <a:srgbClr val="8FA8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68280" y="5404542"/>
            <a:ext cx="14382560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1950">
                <a:solidFill>
                  <a:srgbClr val="C9D8D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team 장바구니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64006" y="9105900"/>
            <a:ext cx="16325088" cy="77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3300">
                <a:solidFill>
                  <a:srgbClr val="F6F4E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감사합니다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DAHZcAA6978</dc:identifier>
  <dcterms:modified xsi:type="dcterms:W3CDTF">2011-08-01T06:04:30Z</dcterms:modified>
  <cp:revision>1</cp:revision>
  <dc:title>식자재 가격 분석 AI 알림 스마트 발주 지원 플랫폼</dc:title>
</cp:coreProperties>
</file>